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8442" y="-4218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2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2" y="13952225"/>
            <a:ext cx="37307520" cy="7200898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30842" y="36865560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704642" y="36865560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368542"/>
            <a:ext cx="19392902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0" y="10439400"/>
            <a:ext cx="19392902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2" y="7368542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2" y="10439400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2" cy="557784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3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3"/>
            <a:ext cx="14439902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2" y="23042880"/>
            <a:ext cx="26334720" cy="2720342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2" y="2941320"/>
            <a:ext cx="26334720" cy="19751040"/>
          </a:xfrm>
        </p:spPr>
        <p:txBody>
          <a:bodyPr/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2" y="25763222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2742905" y="6324600"/>
            <a:ext cx="47404018" cy="1348206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0843" y="6324600"/>
            <a:ext cx="141480542" cy="1348206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680963"/>
            <a:ext cx="39502080" cy="21724622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54311-7587-4D34-8FEB-00F5F44EE46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B9E56-446F-436F-B5CD-93177A04512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120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0" indent="-1645920" algn="l" defTabSz="4389120" rtl="0" eaLnBrk="1" latinLnBrk="0" hangingPunct="1">
        <a:spcBef>
          <a:spcPct val="20000"/>
        </a:spcBef>
        <a:buFont typeface="Arial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defTabSz="4389120" rtl="0" eaLnBrk="1" latinLnBrk="0" hangingPunct="1">
        <a:spcBef>
          <a:spcPct val="20000"/>
        </a:spcBef>
        <a:buFont typeface="Arial" pitchFamily="34" charset="0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spcBef>
          <a:spcPct val="20000"/>
        </a:spcBef>
        <a:buFont typeface="Arial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99"/>
          <p:cNvSpPr txBox="1">
            <a:spLocks noChangeArrowheads="1"/>
          </p:cNvSpPr>
          <p:nvPr/>
        </p:nvSpPr>
        <p:spPr bwMode="auto">
          <a:xfrm>
            <a:off x="5029200" y="914400"/>
            <a:ext cx="34823400" cy="390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0" b="1" dirty="0">
                <a:solidFill>
                  <a:srgbClr val="333399"/>
                </a:solidFill>
                <a:latin typeface="Arial"/>
              </a:rPr>
              <a:t>Preliminary Design Tool for Flying Wing Unmanned Arial Systems</a:t>
            </a:r>
          </a:p>
          <a:p>
            <a:pPr algn="ctr">
              <a:spcBef>
                <a:spcPct val="50000"/>
              </a:spcBef>
            </a:pPr>
            <a:r>
              <a:rPr lang="en-US" sz="6000" dirty="0">
                <a:solidFill>
                  <a:srgbClr val="333399"/>
                </a:solidFill>
                <a:latin typeface="Arial"/>
              </a:rPr>
              <a:t>Malik Henry</a:t>
            </a:r>
          </a:p>
          <a:p>
            <a:pPr algn="ctr">
              <a:spcBef>
                <a:spcPct val="50000"/>
              </a:spcBef>
            </a:pPr>
            <a:r>
              <a:rPr lang="en-US" sz="4800" dirty="0">
                <a:solidFill>
                  <a:srgbClr val="333399"/>
                </a:solidFill>
                <a:latin typeface="Arial"/>
              </a:rPr>
              <a:t>North Carolina A&amp;T State University</a:t>
            </a:r>
            <a:endParaRPr lang="en-US" sz="4800" dirty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04549" y="3778918"/>
            <a:ext cx="184666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E8D08B-7AC3-0459-2327-60219E8C6E45}"/>
              </a:ext>
            </a:extLst>
          </p:cNvPr>
          <p:cNvSpPr/>
          <p:nvPr/>
        </p:nvSpPr>
        <p:spPr>
          <a:xfrm>
            <a:off x="381000" y="5194690"/>
            <a:ext cx="144145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>
                <a:solidFill>
                  <a:srgbClr val="FFFFFF"/>
                </a:solidFill>
                <a:latin typeface="Arial" panose="020B0604020202020204" pitchFamily="34" charset="0"/>
              </a:rPr>
              <a:t>Abstract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5C1A68-8864-FFBD-5E9C-4D501B7CD38B}"/>
              </a:ext>
            </a:extLst>
          </p:cNvPr>
          <p:cNvSpPr txBox="1"/>
          <p:nvPr/>
        </p:nvSpPr>
        <p:spPr>
          <a:xfrm>
            <a:off x="381000" y="6032890"/>
            <a:ext cx="14414500" cy="393954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r>
              <a:rPr lang="en-US" sz="3200" dirty="0">
                <a:solidFill>
                  <a:srgbClr val="40464F"/>
                </a:solidFill>
                <a:latin typeface="Arial" panose="020B0604020202020204" pitchFamily="34" charset="0"/>
              </a:rPr>
              <a:t>The Flying Wing Tool is a preliminary-design environment for tailless aircraft built around one shared project model. The research problem addressed here is workflow fragmentation: geometry, aerodynamics, structure, mission, and export are often separated across different tools, which slows iteration and allows assumptions to drift. The implemented environment keeps those tasks tied to one aircraft definition. A representative blended-wing case study plus an independent BARAM CFD path were used to show both the value and the present limits of that workflow.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BE11FF-E58B-F6CF-33E8-10343AF0CDF9}"/>
              </a:ext>
            </a:extLst>
          </p:cNvPr>
          <p:cNvSpPr/>
          <p:nvPr/>
        </p:nvSpPr>
        <p:spPr>
          <a:xfrm>
            <a:off x="381000" y="10000103"/>
            <a:ext cx="144145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>
                <a:solidFill>
                  <a:srgbClr val="FFFFFF"/>
                </a:solidFill>
                <a:latin typeface="Arial" panose="020B0604020202020204" pitchFamily="34" charset="0"/>
              </a:rPr>
              <a:t>Research Gap and Contribution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2B4EFE-601F-6E35-AF53-D9ABB8F778B1}"/>
              </a:ext>
            </a:extLst>
          </p:cNvPr>
          <p:cNvSpPr txBox="1"/>
          <p:nvPr/>
        </p:nvSpPr>
        <p:spPr>
          <a:xfrm>
            <a:off x="381000" y="10838303"/>
            <a:ext cx="14414500" cy="295465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pPr marL="457200" indent="-457200">
              <a:buFont typeface="+mj-lt"/>
              <a:buChar char="•"/>
            </a:pPr>
            <a:r>
              <a:rPr lang="en-US" sz="3200" dirty="0">
                <a:solidFill>
                  <a:srgbClr val="40464F"/>
                </a:solidFill>
                <a:latin typeface="Arial" panose="020B0604020202020204" pitchFamily="34" charset="0"/>
              </a:rPr>
              <a:t>Flying-wing design is tightly coupled: planform and twist changes affect trim, loading, structure, and manufacturability together.</a:t>
            </a:r>
          </a:p>
          <a:p>
            <a:pPr marL="457200" indent="-457200">
              <a:buFont typeface="+mj-lt"/>
              <a:buChar char="•"/>
            </a:pPr>
            <a:r>
              <a:rPr lang="en-US" sz="3200" dirty="0">
                <a:solidFill>
                  <a:srgbClr val="40464F"/>
                </a:solidFill>
                <a:latin typeface="Arial" panose="020B0604020202020204" pitchFamily="34" charset="0"/>
              </a:rPr>
              <a:t>Fragmented tool chains slow iteration because geometry and assumptions are repeatedly re-entered.</a:t>
            </a:r>
          </a:p>
          <a:p>
            <a:pPr marL="457200" indent="-457200">
              <a:buFont typeface="+mj-lt"/>
              <a:buChar char="•"/>
            </a:pPr>
            <a:r>
              <a:rPr lang="en-US" sz="3200" dirty="0">
                <a:solidFill>
                  <a:srgbClr val="40464F"/>
                </a:solidFill>
                <a:latin typeface="Arial" panose="020B0604020202020204" pitchFamily="34" charset="0"/>
              </a:rPr>
              <a:t>The main contribution is software integration: one project state supports geometry, aerodynamics, mission, structure, and export.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92A980-0DDC-465A-E884-5A9FF8F32BDC}"/>
              </a:ext>
            </a:extLst>
          </p:cNvPr>
          <p:cNvSpPr/>
          <p:nvPr/>
        </p:nvSpPr>
        <p:spPr>
          <a:xfrm>
            <a:off x="381000" y="13854908"/>
            <a:ext cx="144145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>
                <a:solidFill>
                  <a:srgbClr val="FFFFFF"/>
                </a:solidFill>
                <a:latin typeface="Arial" panose="020B0604020202020204" pitchFamily="34" charset="0"/>
              </a:rPr>
              <a:t>Implemented Workflow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65DCBD-BA48-9653-AEE6-DDDA33A18637}"/>
              </a:ext>
            </a:extLst>
          </p:cNvPr>
          <p:cNvSpPr txBox="1"/>
          <p:nvPr/>
        </p:nvSpPr>
        <p:spPr>
          <a:xfrm>
            <a:off x="381000" y="14693108"/>
            <a:ext cx="14414500" cy="3447098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pPr marL="457200" indent="-457200">
              <a:buFont typeface="+mj-lt"/>
              <a:buChar char="•"/>
            </a:pPr>
            <a:r>
              <a:rPr lang="en-US" sz="3200" dirty="0">
                <a:solidFill>
                  <a:srgbClr val="40464F"/>
                </a:solidFill>
                <a:latin typeface="Arial" panose="020B0604020202020204" pitchFamily="34" charset="0"/>
              </a:rPr>
              <a:t>GUI tabs: Geometry, Analysis, Mission, Structure, and Export.</a:t>
            </a:r>
          </a:p>
          <a:p>
            <a:pPr marL="457200" indent="-457200">
              <a:buFont typeface="+mj-lt"/>
              <a:buChar char="•"/>
            </a:pPr>
            <a:r>
              <a:rPr lang="en-US" sz="3200" dirty="0">
                <a:solidFill>
                  <a:srgbClr val="40464F"/>
                </a:solidFill>
                <a:latin typeface="Arial" panose="020B0604020202020204" pitchFamily="34" charset="0"/>
              </a:rPr>
              <a:t>Shared state: one project object stores wing definition, trim assumptions, mission settings, and outputs.</a:t>
            </a:r>
          </a:p>
          <a:p>
            <a:pPr marL="457200" indent="-457200">
              <a:buFont typeface="+mj-lt"/>
              <a:buChar char="•"/>
            </a:pPr>
            <a:r>
              <a:rPr lang="en-US" sz="3200" dirty="0">
                <a:solidFill>
                  <a:srgbClr val="40464F"/>
                </a:solidFill>
                <a:latin typeface="Arial" panose="020B0604020202020204" pitchFamily="34" charset="0"/>
              </a:rPr>
              <a:t>Service layer: geometry or aerodynamics, mission or propulsion, </a:t>
            </a:r>
            <a:r>
              <a:rPr lang="en-US" sz="3200" dirty="0" err="1">
                <a:solidFill>
                  <a:srgbClr val="40464F"/>
                </a:solidFill>
                <a:latin typeface="Arial" panose="020B0604020202020204" pitchFamily="34" charset="0"/>
              </a:rPr>
              <a:t>wingbox</a:t>
            </a:r>
            <a:r>
              <a:rPr lang="en-US" sz="3200" dirty="0">
                <a:solidFill>
                  <a:srgbClr val="40464F"/>
                </a:solidFill>
                <a:latin typeface="Arial" panose="020B0604020202020204" pitchFamily="34" charset="0"/>
              </a:rPr>
              <a:t>-oriented structure, and export.</a:t>
            </a:r>
          </a:p>
          <a:p>
            <a:pPr marL="457200" indent="-457200">
              <a:buFont typeface="+mj-lt"/>
              <a:buChar char="•"/>
            </a:pPr>
            <a:r>
              <a:rPr lang="en-US" sz="3200" dirty="0">
                <a:solidFill>
                  <a:srgbClr val="40464F"/>
                </a:solidFill>
                <a:latin typeface="Arial" panose="020B0604020202020204" pitchFamily="34" charset="0"/>
              </a:rPr>
              <a:t>Reproducibility path: run_full_analysis.py reloads saved projects for repeatable reruns.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A68C270-4DB6-7FF3-E4B6-081DEABEB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249562"/>
              </p:ext>
            </p:extLst>
          </p:nvPr>
        </p:nvGraphicFramePr>
        <p:xfrm>
          <a:off x="366252" y="18504249"/>
          <a:ext cx="14414500" cy="337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82802702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629532416"/>
                    </a:ext>
                  </a:extLst>
                </a:gridCol>
                <a:gridCol w="10731500">
                  <a:extLst>
                    <a:ext uri="{9D8B030D-6E8A-4147-A177-3AD203B41FA5}">
                      <a16:colId xmlns:a16="http://schemas.microsoft.com/office/drawing/2014/main" val="78824970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Module</a:t>
                      </a:r>
                    </a:p>
                  </a:txBody>
                  <a:tcPr marL="50800" marR="50800" marT="25400" marB="12700">
                    <a:solidFill>
                      <a:srgbClr val="04468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State</a:t>
                      </a:r>
                    </a:p>
                  </a:txBody>
                  <a:tcPr marL="50800" marR="50800" marT="25400" marB="12700">
                    <a:solidFill>
                      <a:srgbClr val="04468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Role in the current thesis scope</a:t>
                      </a:r>
                    </a:p>
                  </a:txBody>
                  <a:tcPr marL="50800" marR="50800" marT="25400" marB="12700">
                    <a:solidFill>
                      <a:srgbClr val="0446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77866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Geometry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Active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Parametric planform, airfoil, control-surface, and section generation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357793722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Analysis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Active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dirty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Aero polars, twist synthesis, and performance metrics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57081268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Mission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Active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dirty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Stored mission simulation and phase-level summaries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55372842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Structure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Active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Wingbox sizing, margins, deflection, and feasibility checks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260150344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Export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Active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CAD and manufacturing-oriented geometry handoff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22797305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dirty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Batch rerun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Active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dirty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File-based reproducibility from saved projects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307339366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970099B5-BF0E-C4B0-BB82-9757BBA7CA07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52" y="22111049"/>
            <a:ext cx="6959600" cy="32802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38EC90-1F72-A8BD-41D6-0C2065B35DE8}"/>
              </a:ext>
            </a:extLst>
          </p:cNvPr>
          <p:cNvSpPr txBox="1"/>
          <p:nvPr/>
        </p:nvSpPr>
        <p:spPr>
          <a:xfrm>
            <a:off x="366252" y="25463849"/>
            <a:ext cx="69596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40464F"/>
                </a:solidFill>
                <a:latin typeface="Arial" panose="020B0604020202020204" pitchFamily="34" charset="0"/>
              </a:rPr>
              <a:t>Geometry tab for planform, airfoil, and control-surface definition.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FB81DC-A15C-467F-8389-1C103060634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152" y="22111049"/>
            <a:ext cx="6959600" cy="318163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49DADC-8A91-7588-E7BC-E07786D80967}"/>
              </a:ext>
            </a:extLst>
          </p:cNvPr>
          <p:cNvSpPr txBox="1"/>
          <p:nvPr/>
        </p:nvSpPr>
        <p:spPr>
          <a:xfrm>
            <a:off x="7821152" y="25463849"/>
            <a:ext cx="69596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40464F"/>
                </a:solidFill>
                <a:latin typeface="Arial" panose="020B0604020202020204" pitchFamily="34" charset="0"/>
              </a:rPr>
              <a:t>Analysis tab for aerodynamic sweeps and post-processing.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F88AE9-D464-0D6C-5B47-94A836F0651E}"/>
              </a:ext>
            </a:extLst>
          </p:cNvPr>
          <p:cNvSpPr/>
          <p:nvPr/>
        </p:nvSpPr>
        <p:spPr>
          <a:xfrm>
            <a:off x="381000" y="26737850"/>
            <a:ext cx="144145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>
                <a:solidFill>
                  <a:srgbClr val="FFFFFF"/>
                </a:solidFill>
                <a:latin typeface="Arial" panose="020B0604020202020204" pitchFamily="34" charset="0"/>
              </a:rPr>
              <a:t>Why the Integrated Loop Matters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95DBA2-3044-60A2-5BDE-7784B8BDC8FB}"/>
              </a:ext>
            </a:extLst>
          </p:cNvPr>
          <p:cNvSpPr txBox="1"/>
          <p:nvPr/>
        </p:nvSpPr>
        <p:spPr>
          <a:xfrm>
            <a:off x="381000" y="27576050"/>
            <a:ext cx="14414500" cy="295465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pPr marL="457200" indent="-457200">
              <a:buFont typeface="+mj-lt"/>
              <a:buChar char="•"/>
            </a:pPr>
            <a:r>
              <a:rPr lang="en-US" sz="3200">
                <a:solidFill>
                  <a:srgbClr val="40464F"/>
                </a:solidFill>
                <a:latin typeface="Arial" panose="020B0604020202020204" pitchFamily="34" charset="0"/>
              </a:rPr>
              <a:t>The same spanwise sections drive aerodynamic loading, structural sizing, and exported geometry.</a:t>
            </a:r>
          </a:p>
          <a:p>
            <a:pPr marL="457200" indent="-457200">
              <a:buFont typeface="+mj-lt"/>
              <a:buChar char="•"/>
            </a:pPr>
            <a:r>
              <a:rPr lang="en-US" sz="3200">
                <a:solidFill>
                  <a:srgbClr val="40464F"/>
                </a:solidFill>
                <a:latin typeface="Arial" panose="020B0604020202020204" pitchFamily="34" charset="0"/>
              </a:rPr>
              <a:t>Twist optimization is written back into the same project state used for later structural and mission analysis.</a:t>
            </a:r>
          </a:p>
          <a:p>
            <a:pPr marL="457200" indent="-457200">
              <a:buFont typeface="+mj-lt"/>
              <a:buChar char="•"/>
            </a:pPr>
            <a:r>
              <a:rPr lang="en-US" sz="3200">
                <a:solidFill>
                  <a:srgbClr val="40464F"/>
                </a:solidFill>
                <a:latin typeface="Arial" panose="020B0604020202020204" pitchFamily="34" charset="0"/>
              </a:rPr>
              <a:t>One saved case can expose aerodynamic promise together with a governing structural or drag limitation.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FFED90-54B5-157C-D4B3-A7FD400B1A45}"/>
              </a:ext>
            </a:extLst>
          </p:cNvPr>
          <p:cNvSpPr/>
          <p:nvPr/>
        </p:nvSpPr>
        <p:spPr>
          <a:xfrm>
            <a:off x="15341600" y="5194690"/>
            <a:ext cx="144145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>
                <a:solidFill>
                  <a:srgbClr val="FFFFFF"/>
                </a:solidFill>
                <a:latin typeface="Arial" panose="020B0604020202020204" pitchFamily="34" charset="0"/>
              </a:rPr>
              <a:t>Representative Case: IntendedValidation2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3CA95DE-3930-DB7C-E7E0-0F5A9ED12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296588"/>
              </p:ext>
            </p:extLst>
          </p:nvPr>
        </p:nvGraphicFramePr>
        <p:xfrm>
          <a:off x="15341600" y="6032890"/>
          <a:ext cx="14414500" cy="3181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431416453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480190970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1499372329"/>
                    </a:ext>
                  </a:extLst>
                </a:gridCol>
                <a:gridCol w="7112000">
                  <a:extLst>
                    <a:ext uri="{9D8B030D-6E8A-4147-A177-3AD203B41FA5}">
                      <a16:colId xmlns:a16="http://schemas.microsoft.com/office/drawing/2014/main" val="1593209241"/>
                    </a:ext>
                  </a:extLst>
                </a:gridCol>
              </a:tblGrid>
              <a:tr h="41063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Planform area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1.625 m^2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Cruise speed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19.95 m/s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3503367134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Span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dirty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3.025 m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Takeoff speed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13.34 m/s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848969109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Aspect ratio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5.63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Cruise angle of attack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0.00 deg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2983974947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Gross weight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12.0 kg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Takeoff angle of attack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5.09 deg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2100003985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Lift target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Bell-shaped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Control surface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Single elevon set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2644837566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Static margin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8%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Centerbody type</a:t>
                      </a:r>
                    </a:p>
                  </a:txBody>
                  <a:tcPr marL="50800" marR="50800" marT="25400" marB="1270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dirty="0">
                          <a:solidFill>
                            <a:srgbClr val="40464F"/>
                          </a:solidFill>
                          <a:latin typeface="Arial" panose="020B0604020202020204" pitchFamily="34" charset="0"/>
                        </a:rPr>
                        <a:t>Blended body sections</a:t>
                      </a:r>
                    </a:p>
                  </a:txBody>
                  <a:tcPr marL="50800" marR="50800" marT="25400" marB="12700"/>
                </a:tc>
                <a:extLst>
                  <a:ext uri="{0D108BD9-81ED-4DB2-BD59-A6C34878D82A}">
                    <a16:rowId xmlns:a16="http://schemas.microsoft.com/office/drawing/2014/main" val="95701121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10974B7-B9FC-B0B0-1FD2-18103E577E6D}"/>
              </a:ext>
            </a:extLst>
          </p:cNvPr>
          <p:cNvSpPr/>
          <p:nvPr/>
        </p:nvSpPr>
        <p:spPr>
          <a:xfrm>
            <a:off x="15240000" y="10344842"/>
            <a:ext cx="144145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>
                <a:solidFill>
                  <a:srgbClr val="FFFFFF"/>
                </a:solidFill>
                <a:latin typeface="Arial" panose="020B0604020202020204" pitchFamily="34" charset="0"/>
              </a:rPr>
              <a:t>Aerodynamic and Twist Results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A2977FA-190A-620B-52DB-8EAA09C1E35F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0" y="11328114"/>
            <a:ext cx="7137400" cy="49772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8C99266-F572-3E11-6BCA-D11BF2DDD070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7100" y="11299276"/>
            <a:ext cx="7137400" cy="497721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619B257-D494-9002-6095-0A2B1448B36E}"/>
              </a:ext>
            </a:extLst>
          </p:cNvPr>
          <p:cNvSpPr txBox="1"/>
          <p:nvPr/>
        </p:nvSpPr>
        <p:spPr>
          <a:xfrm>
            <a:off x="15240000" y="16085242"/>
            <a:ext cx="14414500" cy="738664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pPr marL="342900" indent="-342900">
              <a:buFont typeface="+mj-lt"/>
              <a:buChar char="•"/>
            </a:pPr>
            <a:r>
              <a:rPr lang="en-US" sz="2400" dirty="0">
                <a:solidFill>
                  <a:srgbClr val="40464F"/>
                </a:solidFill>
                <a:latin typeface="Arial" panose="020B0604020202020204" pitchFamily="34" charset="0"/>
              </a:rPr>
              <a:t>Cruise operating point: C_L = 0.300, C_D = 0.0129, L over D = 23.21 at 0 degrees angle of attack.</a:t>
            </a:r>
          </a:p>
          <a:p>
            <a:pPr marL="342900" indent="-342900">
              <a:buFont typeface="+mj-lt"/>
              <a:buChar char="•"/>
            </a:pPr>
            <a:r>
              <a:rPr lang="en-US" sz="2400" dirty="0">
                <a:solidFill>
                  <a:srgbClr val="40464F"/>
                </a:solidFill>
                <a:latin typeface="Arial" panose="020B0604020202020204" pitchFamily="34" charset="0"/>
              </a:rPr>
              <a:t>Takeoff operating point: C_L = 0.730, C_D = 0.0456, L over D = 16.02 at 5.09 degrees angle of attack.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D93341-ABBA-2569-190A-A2648270737E}"/>
              </a:ext>
            </a:extLst>
          </p:cNvPr>
          <p:cNvSpPr/>
          <p:nvPr/>
        </p:nvSpPr>
        <p:spPr>
          <a:xfrm>
            <a:off x="15341600" y="17081890"/>
            <a:ext cx="144145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>
                <a:solidFill>
                  <a:srgbClr val="FFFFFF"/>
                </a:solidFill>
                <a:latin typeface="Arial" panose="020B0604020202020204" pitchFamily="34" charset="0"/>
              </a:rPr>
              <a:t>Integrated Structure and Mission Outputs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79A57C-0C3F-2BB0-046C-2EA38EACD71E}"/>
              </a:ext>
            </a:extLst>
          </p:cNvPr>
          <p:cNvSpPr txBox="1"/>
          <p:nvPr/>
        </p:nvSpPr>
        <p:spPr>
          <a:xfrm>
            <a:off x="15341600" y="17945490"/>
            <a:ext cx="6604000" cy="30777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r>
              <a:rPr lang="en-US" sz="2000" b="1">
                <a:solidFill>
                  <a:srgbClr val="044684"/>
                </a:solidFill>
                <a:latin typeface="Arial" panose="020B0604020202020204" pitchFamily="34" charset="0"/>
              </a:rPr>
              <a:t>Structure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397C84-F8A0-E3B1-D95E-C0194D95E169}"/>
              </a:ext>
            </a:extLst>
          </p:cNvPr>
          <p:cNvSpPr txBox="1"/>
          <p:nvPr/>
        </p:nvSpPr>
        <p:spPr>
          <a:xfrm>
            <a:off x="15341600" y="18301090"/>
            <a:ext cx="6680200" cy="2585323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Structural mass      2.673 kg</a:t>
            </a:r>
          </a:p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Tip deflection      2.3 mm</a:t>
            </a:r>
          </a:p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Tip twist           0.197 deg</a:t>
            </a:r>
          </a:p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Lowest Factor of Safety: Rib Crushing at 1.6</a:t>
            </a:r>
          </a:p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Threshold Factor of Safety 1.5</a:t>
            </a:r>
          </a:p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Feasibility flag    True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C31AF6-8F51-09A2-27B5-D744B049DD21}"/>
              </a:ext>
            </a:extLst>
          </p:cNvPr>
          <p:cNvSpPr txBox="1"/>
          <p:nvPr/>
        </p:nvSpPr>
        <p:spPr>
          <a:xfrm>
            <a:off x="22644100" y="17945490"/>
            <a:ext cx="6604000" cy="30777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r>
              <a:rPr lang="en-US" sz="2000" b="1">
                <a:solidFill>
                  <a:srgbClr val="044684"/>
                </a:solidFill>
                <a:latin typeface="Arial" panose="020B0604020202020204" pitchFamily="34" charset="0"/>
              </a:rPr>
              <a:t>Mission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4A9A89-3935-93A5-A4CA-B3530833ED4C}"/>
              </a:ext>
            </a:extLst>
          </p:cNvPr>
          <p:cNvSpPr txBox="1"/>
          <p:nvPr/>
        </p:nvSpPr>
        <p:spPr>
          <a:xfrm>
            <a:off x="22644100" y="18301090"/>
            <a:ext cx="6604000" cy="184665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Mission completion   9 of 9 phases</a:t>
            </a:r>
          </a:p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Distance           1283 m</a:t>
            </a:r>
          </a:p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Energy used        6.64 </a:t>
            </a:r>
            <a:r>
              <a:rPr lang="en-US" sz="2400" dirty="0" err="1">
                <a:solidFill>
                  <a:srgbClr val="40464F"/>
                </a:solidFill>
                <a:latin typeface="Consolas" panose="020B0609020204030204" pitchFamily="49" charset="0"/>
              </a:rPr>
              <a:t>Wh</a:t>
            </a:r>
            <a:endParaRPr lang="en-US" sz="2400" dirty="0">
              <a:solidFill>
                <a:srgbClr val="40464F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Final SOC          78.1%</a:t>
            </a:r>
          </a:p>
          <a:p>
            <a:r>
              <a:rPr lang="en-US" sz="2400" dirty="0">
                <a:solidFill>
                  <a:srgbClr val="40464F"/>
                </a:solidFill>
                <a:latin typeface="Consolas" panose="020B0609020204030204" pitchFamily="49" charset="0"/>
              </a:rPr>
              <a:t>Max electrical power 2.30 kW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0C72E9B-CADB-93EC-AC7B-89ED812D215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1600" y="20942690"/>
            <a:ext cx="14414500" cy="678682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7F42D0A-84BE-3069-1FE5-A013F6C9DFA6}"/>
              </a:ext>
            </a:extLst>
          </p:cNvPr>
          <p:cNvSpPr txBox="1"/>
          <p:nvPr/>
        </p:nvSpPr>
        <p:spPr>
          <a:xfrm>
            <a:off x="15341600" y="27775290"/>
            <a:ext cx="144145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Structural-analysis interface used to inspect stress, margins, and feasibility for the same saved aircraft definition.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914C7D-A071-57C6-B735-04D75FA8F2B2}"/>
              </a:ext>
            </a:extLst>
          </p:cNvPr>
          <p:cNvSpPr/>
          <p:nvPr/>
        </p:nvSpPr>
        <p:spPr>
          <a:xfrm>
            <a:off x="15341600" y="28257890"/>
            <a:ext cx="144145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>
                <a:solidFill>
                  <a:srgbClr val="FFFFFF"/>
                </a:solidFill>
                <a:latin typeface="Arial" panose="020B0604020202020204" pitchFamily="34" charset="0"/>
              </a:rPr>
              <a:t>Case Study Interpretation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D7A607-800A-0ED8-741B-C728F62842A8}"/>
              </a:ext>
            </a:extLst>
          </p:cNvPr>
          <p:cNvSpPr txBox="1"/>
          <p:nvPr/>
        </p:nvSpPr>
        <p:spPr>
          <a:xfrm>
            <a:off x="15341600" y="29096090"/>
            <a:ext cx="14414500" cy="172354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The case study shows why the shared-state workflow matters. The same saved aircraft produces a coherent cruise solution, a usable twist distribution, a lightweight structure, and a mission-level energy summary. The tool therefore surfaces coupled design consequences rather than isolated outputs.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EED8E5-E5AA-3BE0-80F3-D3BCDB9DF55F}"/>
              </a:ext>
            </a:extLst>
          </p:cNvPr>
          <p:cNvSpPr/>
          <p:nvPr/>
        </p:nvSpPr>
        <p:spPr>
          <a:xfrm>
            <a:off x="30302200" y="5194690"/>
            <a:ext cx="129032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Arial" panose="020B0604020202020204" pitchFamily="34" charset="0"/>
              </a:rPr>
              <a:t>Validation: </a:t>
            </a:r>
            <a:r>
              <a:rPr lang="en-US" sz="2900" b="1" dirty="0" err="1">
                <a:solidFill>
                  <a:srgbClr val="FFFFFF"/>
                </a:solidFill>
                <a:latin typeface="Arial" panose="020B0604020202020204" pitchFamily="34" charset="0"/>
              </a:rPr>
              <a:t>OpenFOAM</a:t>
            </a:r>
            <a:r>
              <a:rPr lang="en-US" sz="2900" b="1" dirty="0">
                <a:solidFill>
                  <a:srgbClr val="FFFFFF"/>
                </a:solidFill>
                <a:latin typeface="Arial" panose="020B0604020202020204" pitchFamily="34" charset="0"/>
              </a:rPr>
              <a:t> CFD Cross-Check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82A5D4B-79D0-5802-6D94-4A752174BBF1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2200" y="6032890"/>
            <a:ext cx="6070600" cy="342104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4E53FAF-D75C-D76E-042B-63FE19345452}"/>
              </a:ext>
            </a:extLst>
          </p:cNvPr>
          <p:cNvSpPr txBox="1"/>
          <p:nvPr/>
        </p:nvSpPr>
        <p:spPr>
          <a:xfrm>
            <a:off x="30784800" y="9443673"/>
            <a:ext cx="6070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rgbClr val="40464F"/>
                </a:solidFill>
                <a:latin typeface="Arial" panose="020B0604020202020204" pitchFamily="34" charset="0"/>
              </a:rPr>
              <a:t>coefficient comparison for C_L and C_D.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C5FCD73-915E-4B1D-4ABB-1BFE4C86FDE2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29450" y="9811805"/>
            <a:ext cx="8140700" cy="5046056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E13921B-860D-284A-406A-F9CDFC50C348}"/>
              </a:ext>
            </a:extLst>
          </p:cNvPr>
          <p:cNvSpPr txBox="1"/>
          <p:nvPr/>
        </p:nvSpPr>
        <p:spPr>
          <a:xfrm>
            <a:off x="33401000" y="15030431"/>
            <a:ext cx="6705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rgbClr val="40464F"/>
                </a:solidFill>
                <a:latin typeface="Arial" panose="020B0604020202020204" pitchFamily="34" charset="0"/>
              </a:rPr>
              <a:t>Projected planform share versus split-patch drag share.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3274EC3-0DB0-B7F8-09C6-37E28AFE3FC0}"/>
              </a:ext>
            </a:extLst>
          </p:cNvPr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9800" y="6019154"/>
            <a:ext cx="6705600" cy="350893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B054EA9-DE92-31C4-2A59-606E5FC33C70}"/>
              </a:ext>
            </a:extLst>
          </p:cNvPr>
          <p:cNvSpPr txBox="1"/>
          <p:nvPr/>
        </p:nvSpPr>
        <p:spPr>
          <a:xfrm>
            <a:off x="39217600" y="9464430"/>
            <a:ext cx="129032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rgbClr val="40464F"/>
                </a:solidFill>
                <a:latin typeface="Arial" panose="020B0604020202020204" pitchFamily="34" charset="0"/>
              </a:rPr>
              <a:t>L/D Comparison</a:t>
            </a:r>
          </a:p>
          <a:p>
            <a:endParaRPr lang="en-US" sz="2000" dirty="0">
              <a:solidFill>
                <a:srgbClr val="40464F"/>
              </a:solidFill>
              <a:latin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B38016-5F54-4D73-8232-1A0043E5E43E}"/>
              </a:ext>
            </a:extLst>
          </p:cNvPr>
          <p:cNvSpPr txBox="1"/>
          <p:nvPr/>
        </p:nvSpPr>
        <p:spPr>
          <a:xfrm>
            <a:off x="30302200" y="16091290"/>
            <a:ext cx="12903200" cy="473975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pPr marL="342900" indent="-342900">
              <a:buFont typeface="+mj-lt"/>
              <a:buChar char="•"/>
            </a:pPr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Independent CFD path: incompressible RANS, standard k-epsilon, symmetry half-model, convergence after 604 SIMPLE iterations.</a:t>
            </a:r>
          </a:p>
          <a:p>
            <a:pPr marL="342900" indent="-342900">
              <a:buFont typeface="+mj-lt"/>
              <a:buChar char="•"/>
            </a:pPr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After rescaling to the thesis reference quantities, lift is directionally close: C_L = 0.273 in BARAM versus 0.300 in the repository cruise analysis.</a:t>
            </a:r>
          </a:p>
          <a:p>
            <a:pPr marL="342900" indent="-342900">
              <a:buFont typeface="+mj-lt"/>
              <a:buChar char="•"/>
            </a:pPr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Drag differs materially: C_D = 0.0341 in BARAM versus 0.0129 in the repository cruise analysis, reducing L over D from 23.21 to 8.00.</a:t>
            </a:r>
          </a:p>
          <a:p>
            <a:pPr marL="342900" indent="-342900">
              <a:buFont typeface="+mj-lt"/>
              <a:buChar char="•"/>
            </a:pPr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The CFD drag is pressure dominated: 77.2 percent pressure drag and 22.8 percent viscous drag.</a:t>
            </a:r>
          </a:p>
          <a:p>
            <a:pPr marL="342900" indent="-342900">
              <a:buFont typeface="+mj-lt"/>
              <a:buChar char="•"/>
            </a:pPr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The </a:t>
            </a:r>
            <a:r>
              <a:rPr lang="en-US" sz="2800" dirty="0" err="1">
                <a:solidFill>
                  <a:srgbClr val="40464F"/>
                </a:solidFill>
                <a:latin typeface="Arial" panose="020B0604020202020204" pitchFamily="34" charset="0"/>
              </a:rPr>
              <a:t>centerbody</a:t>
            </a:r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 plus junction occupy only 32.2 percent of projected planform area but account for 94.3 percent of the drag share, indicating a </a:t>
            </a:r>
            <a:r>
              <a:rPr lang="en-US" sz="2800" dirty="0" err="1">
                <a:solidFill>
                  <a:srgbClr val="40464F"/>
                </a:solidFill>
                <a:latin typeface="Arial" panose="020B0604020202020204" pitchFamily="34" charset="0"/>
              </a:rPr>
              <a:t>centerbody</a:t>
            </a:r>
            <a:r>
              <a:rPr lang="en-US" sz="2800" dirty="0">
                <a:solidFill>
                  <a:srgbClr val="40464F"/>
                </a:solidFill>
                <a:latin typeface="Arial" panose="020B0604020202020204" pitchFamily="34" charset="0"/>
              </a:rPr>
              <a:t>-dominated pressure-drag mechanism.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C7F7C8A-3BA1-5D4A-D601-08E7B1E55683}"/>
              </a:ext>
            </a:extLst>
          </p:cNvPr>
          <p:cNvSpPr/>
          <p:nvPr/>
        </p:nvSpPr>
        <p:spPr>
          <a:xfrm>
            <a:off x="30302200" y="20891404"/>
            <a:ext cx="129032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 dirty="0">
                <a:solidFill>
                  <a:srgbClr val="FFFFFF"/>
                </a:solidFill>
                <a:latin typeface="Arial" panose="020B0604020202020204" pitchFamily="34" charset="0"/>
              </a:rPr>
              <a:t>CAD Model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9F3A9C8-D15C-893E-5EDC-D34125885C48}"/>
              </a:ext>
            </a:extLst>
          </p:cNvPr>
          <p:cNvSpPr/>
          <p:nvPr/>
        </p:nvSpPr>
        <p:spPr>
          <a:xfrm>
            <a:off x="30302200" y="27342710"/>
            <a:ext cx="12903200" cy="762000"/>
          </a:xfrm>
          <a:prstGeom prst="rect">
            <a:avLst/>
          </a:prstGeom>
          <a:solidFill>
            <a:srgbClr val="04468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88900" rIns="50800" bIns="25400" rtlCol="0" anchor="ctr"/>
          <a:lstStyle/>
          <a:p>
            <a:r>
              <a:rPr lang="en-US" sz="2900" b="1">
                <a:solidFill>
                  <a:srgbClr val="FFFFFF"/>
                </a:solidFill>
                <a:latin typeface="Arial" panose="020B0604020202020204" pitchFamily="34" charset="0"/>
              </a:rPr>
              <a:t>Selected References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CA57D6-F34F-E241-C306-56556D2C47D2}"/>
              </a:ext>
            </a:extLst>
          </p:cNvPr>
          <p:cNvSpPr txBox="1"/>
          <p:nvPr/>
        </p:nvSpPr>
        <p:spPr>
          <a:xfrm>
            <a:off x="30302200" y="28180910"/>
            <a:ext cx="12903200" cy="249299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spAutoFit/>
          </a:bodyPr>
          <a:lstStyle/>
          <a:p>
            <a:pPr marL="342900" indent="-342900">
              <a:buFont typeface="+mj-lt"/>
              <a:buChar char="•"/>
            </a:pPr>
            <a:r>
              <a:rPr lang="en-US" sz="1800" dirty="0">
                <a:solidFill>
                  <a:srgbClr val="40464F"/>
                </a:solidFill>
                <a:latin typeface="Arial" panose="020B0604020202020204" pitchFamily="34" charset="0"/>
              </a:rPr>
              <a:t>Sharpe, P. D. (2021). </a:t>
            </a:r>
            <a:r>
              <a:rPr lang="en-US" sz="1800" dirty="0" err="1">
                <a:solidFill>
                  <a:srgbClr val="40464F"/>
                </a:solidFill>
                <a:latin typeface="Arial" panose="020B0604020202020204" pitchFamily="34" charset="0"/>
              </a:rPr>
              <a:t>AeroSandbox</a:t>
            </a:r>
            <a:r>
              <a:rPr lang="en-US" sz="1800" dirty="0">
                <a:solidFill>
                  <a:srgbClr val="40464F"/>
                </a:solidFill>
                <a:latin typeface="Arial" panose="020B0604020202020204" pitchFamily="34" charset="0"/>
              </a:rPr>
              <a:t>: A Differentiable Framework for Aircraft Design Optimization. Massachusetts Institute of Technology.</a:t>
            </a:r>
          </a:p>
          <a:p>
            <a:pPr marL="342900" indent="-342900">
              <a:buFont typeface="+mj-lt"/>
              <a:buChar char="•"/>
            </a:pPr>
            <a:r>
              <a:rPr lang="en-US" sz="1800" dirty="0">
                <a:solidFill>
                  <a:srgbClr val="40464F"/>
                </a:solidFill>
                <a:latin typeface="Arial" panose="020B0604020202020204" pitchFamily="34" charset="0"/>
              </a:rPr>
              <a:t>Sharpe, P. D. (2024). Accelerating Practical Engineering Design Optimization with Computational Graph Transformations. Massachusetts Institute of Technology.</a:t>
            </a:r>
          </a:p>
          <a:p>
            <a:pPr marL="342900" indent="-342900">
              <a:buFont typeface="+mj-lt"/>
              <a:buChar char="•"/>
            </a:pPr>
            <a:r>
              <a:rPr lang="en-US" sz="1800" dirty="0">
                <a:solidFill>
                  <a:srgbClr val="40464F"/>
                </a:solidFill>
                <a:latin typeface="Arial" panose="020B0604020202020204" pitchFamily="34" charset="0"/>
              </a:rPr>
              <a:t>Sharpe, P. D. (2025). </a:t>
            </a:r>
            <a:r>
              <a:rPr lang="en-US" sz="1800" dirty="0" err="1">
                <a:solidFill>
                  <a:srgbClr val="40464F"/>
                </a:solidFill>
                <a:latin typeface="Arial" panose="020B0604020202020204" pitchFamily="34" charset="0"/>
              </a:rPr>
              <a:t>NeuralFoil</a:t>
            </a:r>
            <a:r>
              <a:rPr lang="en-US" sz="1800" dirty="0">
                <a:solidFill>
                  <a:srgbClr val="40464F"/>
                </a:solidFill>
                <a:latin typeface="Arial" panose="020B0604020202020204" pitchFamily="34" charset="0"/>
              </a:rPr>
              <a:t>: A physics-informed machine learning model for airfoil aerodynamics. arXiv:2503.16323.</a:t>
            </a:r>
          </a:p>
          <a:p>
            <a:pPr marL="342900" indent="-342900">
              <a:buFont typeface="+mj-lt"/>
              <a:buChar char="•"/>
            </a:pPr>
            <a:r>
              <a:rPr lang="en-US" sz="1800" dirty="0">
                <a:solidFill>
                  <a:srgbClr val="40464F"/>
                </a:solidFill>
                <a:latin typeface="Arial" panose="020B0604020202020204" pitchFamily="34" charset="0"/>
              </a:rPr>
              <a:t>Bowers, A. H., et al. (2023). Wake-Structure of the Prandtl-D. AIAA Applied Aerodynamics Conference.</a:t>
            </a:r>
          </a:p>
          <a:p>
            <a:pPr marL="342900" indent="-342900">
              <a:buFont typeface="+mj-lt"/>
              <a:buChar char="•"/>
            </a:pPr>
            <a:r>
              <a:rPr lang="en-US" sz="1800" dirty="0">
                <a:solidFill>
                  <a:srgbClr val="40464F"/>
                </a:solidFill>
                <a:latin typeface="Arial" panose="020B0604020202020204" pitchFamily="34" charset="0"/>
              </a:rPr>
              <a:t>Yu, A., et al. (2022). Comparing Potential Flow Solvers for Aerodynamic Characteristics Estimation of the T-Flex UAV. ICAS 2022.</a:t>
            </a:r>
          </a:p>
          <a:p>
            <a:pPr marL="342900" indent="-342900">
              <a:buFont typeface="+mj-lt"/>
              <a:buChar char="•"/>
            </a:pPr>
            <a:r>
              <a:rPr lang="en-US" sz="1800" dirty="0">
                <a:solidFill>
                  <a:srgbClr val="40464F"/>
                </a:solidFill>
                <a:latin typeface="Arial" panose="020B0604020202020204" pitchFamily="34" charset="0"/>
              </a:rPr>
              <a:t>Rosas-Cordova, A., et al. (2024). Validation of VSPAERO for Basic Wing Simulation. RIMNI.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08FC0C82-BCEC-1315-D91E-07D0A862FB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1071249"/>
            <a:ext cx="42976800" cy="101456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0E8B865-BB73-AECA-5D12-BA657AD1387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9" t="15935" r="11233" b="20328"/>
          <a:stretch>
            <a:fillRect/>
          </a:stretch>
        </p:blipFill>
        <p:spPr>
          <a:xfrm>
            <a:off x="32018697" y="21825974"/>
            <a:ext cx="9470206" cy="54427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AES_Template_36x4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CAES_Poster_Horizontal_36x48</Template>
  <TotalTime>38</TotalTime>
  <Words>917</Words>
  <Application>Microsoft Office PowerPoint</Application>
  <PresentationFormat>Custom</PresentationFormat>
  <Paragraphs>103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SAES_Template_36x48</vt:lpstr>
      <vt:lpstr>PowerPoint Presentation</vt:lpstr>
    </vt:vector>
  </TitlesOfParts>
  <Company>NC A&amp;T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Lupo</dc:creator>
  <cp:lastModifiedBy>Malik Henry</cp:lastModifiedBy>
  <cp:revision>3</cp:revision>
  <cp:lastPrinted>2013-03-28T14:59:02Z</cp:lastPrinted>
  <dcterms:created xsi:type="dcterms:W3CDTF">2018-06-19T15:11:49Z</dcterms:created>
  <dcterms:modified xsi:type="dcterms:W3CDTF">2026-04-10T00:19:32Z</dcterms:modified>
</cp:coreProperties>
</file>