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43891200" cy="32918400"/>
  <p:notesSz cx="6858000" cy="9144000"/>
  <p:defaultTextStyle>
    <a:defPPr>
      <a:defRPr lang="en-US"/>
    </a:defPPr>
    <a:lvl1pPr marL="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1pPr>
    <a:lvl2pPr marL="219456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2pPr>
    <a:lvl3pPr marL="438912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3pPr>
    <a:lvl4pPr marL="658368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4pPr>
    <a:lvl5pPr marL="877824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5pPr>
    <a:lvl6pPr marL="1097280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6pPr>
    <a:lvl7pPr marL="1316736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7pPr>
    <a:lvl8pPr marL="1536192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8pPr>
    <a:lvl9pPr marL="1755648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368">
          <p15:clr>
            <a:srgbClr val="A4A3A4"/>
          </p15:clr>
        </p15:guide>
        <p15:guide id="2" pos="13824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6" d="100"/>
          <a:sy n="16" d="100"/>
        </p:scale>
        <p:origin x="612" y="-168"/>
      </p:cViewPr>
      <p:guideLst>
        <p:guide orient="horz" pos="10368"/>
        <p:guide pos="13824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1840" y="10226042"/>
            <a:ext cx="37307520" cy="70561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583680" y="18653760"/>
            <a:ext cx="30723840" cy="841248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1945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43891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65836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87782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0972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31673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5361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7556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54311-7587-4D34-8FEB-00F5F44EE468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B9E56-446F-436F-B5CD-93177A045126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54311-7587-4D34-8FEB-00F5F44EE468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B9E56-446F-436F-B5CD-93177A045126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7102" y="21153122"/>
            <a:ext cx="37307520" cy="6537960"/>
          </a:xfrm>
        </p:spPr>
        <p:txBody>
          <a:bodyPr anchor="t"/>
          <a:lstStyle>
            <a:lvl1pPr algn="l">
              <a:defRPr sz="192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67102" y="13952225"/>
            <a:ext cx="37307520" cy="7200898"/>
          </a:xfrm>
        </p:spPr>
        <p:txBody>
          <a:bodyPr anchor="b"/>
          <a:lstStyle>
            <a:lvl1pPr marL="0" indent="0">
              <a:buNone/>
              <a:defRPr sz="9600">
                <a:solidFill>
                  <a:schemeClr val="tx1">
                    <a:tint val="75000"/>
                  </a:schemeClr>
                </a:solidFill>
              </a:defRPr>
            </a:lvl1pPr>
            <a:lvl2pPr marL="2194560" indent="0">
              <a:buNone/>
              <a:defRPr sz="8600">
                <a:solidFill>
                  <a:schemeClr val="tx1">
                    <a:tint val="75000"/>
                  </a:schemeClr>
                </a:solidFill>
              </a:defRPr>
            </a:lvl2pPr>
            <a:lvl3pPr marL="4389120" indent="0">
              <a:buNone/>
              <a:defRPr sz="7700">
                <a:solidFill>
                  <a:schemeClr val="tx1">
                    <a:tint val="75000"/>
                  </a:schemeClr>
                </a:solidFill>
              </a:defRPr>
            </a:lvl3pPr>
            <a:lvl4pPr marL="6583680" indent="0">
              <a:buNone/>
              <a:defRPr sz="6700">
                <a:solidFill>
                  <a:schemeClr val="tx1">
                    <a:tint val="75000"/>
                  </a:schemeClr>
                </a:solidFill>
              </a:defRPr>
            </a:lvl4pPr>
            <a:lvl5pPr marL="8778240" indent="0">
              <a:buNone/>
              <a:defRPr sz="6700">
                <a:solidFill>
                  <a:schemeClr val="tx1">
                    <a:tint val="75000"/>
                  </a:schemeClr>
                </a:solidFill>
              </a:defRPr>
            </a:lvl5pPr>
            <a:lvl6pPr marL="10972800" indent="0">
              <a:buNone/>
              <a:defRPr sz="6700">
                <a:solidFill>
                  <a:schemeClr val="tx1">
                    <a:tint val="75000"/>
                  </a:schemeClr>
                </a:solidFill>
              </a:defRPr>
            </a:lvl6pPr>
            <a:lvl7pPr marL="13167360" indent="0">
              <a:buNone/>
              <a:defRPr sz="6700">
                <a:solidFill>
                  <a:schemeClr val="tx1">
                    <a:tint val="75000"/>
                  </a:schemeClr>
                </a:solidFill>
              </a:defRPr>
            </a:lvl7pPr>
            <a:lvl8pPr marL="15361920" indent="0">
              <a:buNone/>
              <a:defRPr sz="6700">
                <a:solidFill>
                  <a:schemeClr val="tx1">
                    <a:tint val="75000"/>
                  </a:schemeClr>
                </a:solidFill>
              </a:defRPr>
            </a:lvl8pPr>
            <a:lvl9pPr marL="17556480" indent="0">
              <a:buNone/>
              <a:defRPr sz="67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54311-7587-4D34-8FEB-00F5F44EE468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B9E56-446F-436F-B5CD-93177A045126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530842" y="36865560"/>
            <a:ext cx="94442280" cy="104279702"/>
          </a:xfrm>
        </p:spPr>
        <p:txBody>
          <a:bodyPr/>
          <a:lstStyle>
            <a:lvl1pPr>
              <a:defRPr sz="13400"/>
            </a:lvl1pPr>
            <a:lvl2pPr>
              <a:defRPr sz="11500"/>
            </a:lvl2pPr>
            <a:lvl3pPr>
              <a:defRPr sz="9600"/>
            </a:lvl3pPr>
            <a:lvl4pPr>
              <a:defRPr sz="8600"/>
            </a:lvl4pPr>
            <a:lvl5pPr>
              <a:defRPr sz="8600"/>
            </a:lvl5pPr>
            <a:lvl6pPr>
              <a:defRPr sz="8600"/>
            </a:lvl6pPr>
            <a:lvl7pPr>
              <a:defRPr sz="8600"/>
            </a:lvl7pPr>
            <a:lvl8pPr>
              <a:defRPr sz="8600"/>
            </a:lvl8pPr>
            <a:lvl9pPr>
              <a:defRPr sz="8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5704642" y="36865560"/>
            <a:ext cx="94442280" cy="104279702"/>
          </a:xfrm>
        </p:spPr>
        <p:txBody>
          <a:bodyPr/>
          <a:lstStyle>
            <a:lvl1pPr>
              <a:defRPr sz="13400"/>
            </a:lvl1pPr>
            <a:lvl2pPr>
              <a:defRPr sz="11500"/>
            </a:lvl2pPr>
            <a:lvl3pPr>
              <a:defRPr sz="9600"/>
            </a:lvl3pPr>
            <a:lvl4pPr>
              <a:defRPr sz="8600"/>
            </a:lvl4pPr>
            <a:lvl5pPr>
              <a:defRPr sz="8600"/>
            </a:lvl5pPr>
            <a:lvl6pPr>
              <a:defRPr sz="8600"/>
            </a:lvl6pPr>
            <a:lvl7pPr>
              <a:defRPr sz="8600"/>
            </a:lvl7pPr>
            <a:lvl8pPr>
              <a:defRPr sz="8600"/>
            </a:lvl8pPr>
            <a:lvl9pPr>
              <a:defRPr sz="8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54311-7587-4D34-8FEB-00F5F44EE468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B9E56-446F-436F-B5CD-93177A045126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4560" y="1318262"/>
            <a:ext cx="39502080" cy="54864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94560" y="7368542"/>
            <a:ext cx="19392902" cy="3070858"/>
          </a:xfrm>
        </p:spPr>
        <p:txBody>
          <a:bodyPr anchor="b"/>
          <a:lstStyle>
            <a:lvl1pPr marL="0" indent="0">
              <a:buNone/>
              <a:defRPr sz="1150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00" b="1"/>
            </a:lvl3pPr>
            <a:lvl4pPr marL="6583680" indent="0">
              <a:buNone/>
              <a:defRPr sz="7700" b="1"/>
            </a:lvl4pPr>
            <a:lvl5pPr marL="8778240" indent="0">
              <a:buNone/>
              <a:defRPr sz="7700" b="1"/>
            </a:lvl5pPr>
            <a:lvl6pPr marL="10972800" indent="0">
              <a:buNone/>
              <a:defRPr sz="7700" b="1"/>
            </a:lvl6pPr>
            <a:lvl7pPr marL="13167360" indent="0">
              <a:buNone/>
              <a:defRPr sz="7700" b="1"/>
            </a:lvl7pPr>
            <a:lvl8pPr marL="15361920" indent="0">
              <a:buNone/>
              <a:defRPr sz="7700" b="1"/>
            </a:lvl8pPr>
            <a:lvl9pPr marL="17556480" indent="0">
              <a:buNone/>
              <a:defRPr sz="77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94560" y="10439400"/>
            <a:ext cx="19392902" cy="18966182"/>
          </a:xfrm>
        </p:spPr>
        <p:txBody>
          <a:bodyPr/>
          <a:lstStyle>
            <a:lvl1pPr>
              <a:defRPr sz="11500"/>
            </a:lvl1pPr>
            <a:lvl2pPr>
              <a:defRPr sz="9600"/>
            </a:lvl2pPr>
            <a:lvl3pPr>
              <a:defRPr sz="8600"/>
            </a:lvl3pPr>
            <a:lvl4pPr>
              <a:defRPr sz="7700"/>
            </a:lvl4pPr>
            <a:lvl5pPr>
              <a:defRPr sz="7700"/>
            </a:lvl5pPr>
            <a:lvl6pPr>
              <a:defRPr sz="7700"/>
            </a:lvl6pPr>
            <a:lvl7pPr>
              <a:defRPr sz="7700"/>
            </a:lvl7pPr>
            <a:lvl8pPr>
              <a:defRPr sz="7700"/>
            </a:lvl8pPr>
            <a:lvl9pPr>
              <a:defRPr sz="77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96122" y="7368542"/>
            <a:ext cx="19400520" cy="3070858"/>
          </a:xfrm>
        </p:spPr>
        <p:txBody>
          <a:bodyPr anchor="b"/>
          <a:lstStyle>
            <a:lvl1pPr marL="0" indent="0">
              <a:buNone/>
              <a:defRPr sz="1150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00" b="1"/>
            </a:lvl3pPr>
            <a:lvl4pPr marL="6583680" indent="0">
              <a:buNone/>
              <a:defRPr sz="7700" b="1"/>
            </a:lvl4pPr>
            <a:lvl5pPr marL="8778240" indent="0">
              <a:buNone/>
              <a:defRPr sz="7700" b="1"/>
            </a:lvl5pPr>
            <a:lvl6pPr marL="10972800" indent="0">
              <a:buNone/>
              <a:defRPr sz="7700" b="1"/>
            </a:lvl6pPr>
            <a:lvl7pPr marL="13167360" indent="0">
              <a:buNone/>
              <a:defRPr sz="7700" b="1"/>
            </a:lvl7pPr>
            <a:lvl8pPr marL="15361920" indent="0">
              <a:buNone/>
              <a:defRPr sz="7700" b="1"/>
            </a:lvl8pPr>
            <a:lvl9pPr marL="17556480" indent="0">
              <a:buNone/>
              <a:defRPr sz="77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96122" y="10439400"/>
            <a:ext cx="19400520" cy="18966182"/>
          </a:xfrm>
        </p:spPr>
        <p:txBody>
          <a:bodyPr/>
          <a:lstStyle>
            <a:lvl1pPr>
              <a:defRPr sz="11500"/>
            </a:lvl1pPr>
            <a:lvl2pPr>
              <a:defRPr sz="9600"/>
            </a:lvl2pPr>
            <a:lvl3pPr>
              <a:defRPr sz="8600"/>
            </a:lvl3pPr>
            <a:lvl4pPr>
              <a:defRPr sz="7700"/>
            </a:lvl4pPr>
            <a:lvl5pPr>
              <a:defRPr sz="7700"/>
            </a:lvl5pPr>
            <a:lvl6pPr>
              <a:defRPr sz="7700"/>
            </a:lvl6pPr>
            <a:lvl7pPr>
              <a:defRPr sz="7700"/>
            </a:lvl7pPr>
            <a:lvl8pPr>
              <a:defRPr sz="7700"/>
            </a:lvl8pPr>
            <a:lvl9pPr>
              <a:defRPr sz="77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54311-7587-4D34-8FEB-00F5F44EE468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B9E56-446F-436F-B5CD-93177A045126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54311-7587-4D34-8FEB-00F5F44EE468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B9E56-446F-436F-B5CD-93177A045126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54311-7587-4D34-8FEB-00F5F44EE468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B9E56-446F-436F-B5CD-93177A045126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4563" y="1310640"/>
            <a:ext cx="14439902" cy="5577840"/>
          </a:xfrm>
        </p:spPr>
        <p:txBody>
          <a:bodyPr anchor="b"/>
          <a:lstStyle>
            <a:lvl1pPr algn="l">
              <a:defRPr sz="96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160240" y="1310643"/>
            <a:ext cx="24536400" cy="28094942"/>
          </a:xfrm>
        </p:spPr>
        <p:txBody>
          <a:bodyPr/>
          <a:lstStyle>
            <a:lvl1pPr>
              <a:defRPr sz="15400"/>
            </a:lvl1pPr>
            <a:lvl2pPr>
              <a:defRPr sz="13400"/>
            </a:lvl2pPr>
            <a:lvl3pPr>
              <a:defRPr sz="11500"/>
            </a:lvl3pPr>
            <a:lvl4pPr>
              <a:defRPr sz="9600"/>
            </a:lvl4pPr>
            <a:lvl5pPr>
              <a:defRPr sz="9600"/>
            </a:lvl5pPr>
            <a:lvl6pPr>
              <a:defRPr sz="9600"/>
            </a:lvl6pPr>
            <a:lvl7pPr>
              <a:defRPr sz="9600"/>
            </a:lvl7pPr>
            <a:lvl8pPr>
              <a:defRPr sz="9600"/>
            </a:lvl8pPr>
            <a:lvl9pPr>
              <a:defRPr sz="9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94563" y="6888483"/>
            <a:ext cx="14439902" cy="22517102"/>
          </a:xfrm>
        </p:spPr>
        <p:txBody>
          <a:bodyPr/>
          <a:lstStyle>
            <a:lvl1pPr marL="0" indent="0">
              <a:buNone/>
              <a:defRPr sz="6700"/>
            </a:lvl1pPr>
            <a:lvl2pPr marL="2194560" indent="0">
              <a:buNone/>
              <a:defRPr sz="5800"/>
            </a:lvl2pPr>
            <a:lvl3pPr marL="4389120" indent="0">
              <a:buNone/>
              <a:defRPr sz="4800"/>
            </a:lvl3pPr>
            <a:lvl4pPr marL="6583680" indent="0">
              <a:buNone/>
              <a:defRPr sz="4300"/>
            </a:lvl4pPr>
            <a:lvl5pPr marL="8778240" indent="0">
              <a:buNone/>
              <a:defRPr sz="4300"/>
            </a:lvl5pPr>
            <a:lvl6pPr marL="10972800" indent="0">
              <a:buNone/>
              <a:defRPr sz="4300"/>
            </a:lvl6pPr>
            <a:lvl7pPr marL="13167360" indent="0">
              <a:buNone/>
              <a:defRPr sz="4300"/>
            </a:lvl7pPr>
            <a:lvl8pPr marL="15361920" indent="0">
              <a:buNone/>
              <a:defRPr sz="4300"/>
            </a:lvl8pPr>
            <a:lvl9pPr marL="17556480" indent="0">
              <a:buNone/>
              <a:defRPr sz="43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54311-7587-4D34-8FEB-00F5F44EE468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B9E56-446F-436F-B5CD-93177A045126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2982" y="23042880"/>
            <a:ext cx="26334720" cy="2720342"/>
          </a:xfrm>
        </p:spPr>
        <p:txBody>
          <a:bodyPr anchor="b"/>
          <a:lstStyle>
            <a:lvl1pPr algn="l">
              <a:defRPr sz="96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8602982" y="2941320"/>
            <a:ext cx="26334720" cy="19751040"/>
          </a:xfrm>
        </p:spPr>
        <p:txBody>
          <a:bodyPr/>
          <a:lstStyle>
            <a:lvl1pPr marL="0" indent="0">
              <a:buNone/>
              <a:defRPr sz="15400"/>
            </a:lvl1pPr>
            <a:lvl2pPr marL="2194560" indent="0">
              <a:buNone/>
              <a:defRPr sz="13400"/>
            </a:lvl2pPr>
            <a:lvl3pPr marL="4389120" indent="0">
              <a:buNone/>
              <a:defRPr sz="1150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2982" y="25763222"/>
            <a:ext cx="26334720" cy="3863338"/>
          </a:xfrm>
        </p:spPr>
        <p:txBody>
          <a:bodyPr/>
          <a:lstStyle>
            <a:lvl1pPr marL="0" indent="0">
              <a:buNone/>
              <a:defRPr sz="6700"/>
            </a:lvl1pPr>
            <a:lvl2pPr marL="2194560" indent="0">
              <a:buNone/>
              <a:defRPr sz="5800"/>
            </a:lvl2pPr>
            <a:lvl3pPr marL="4389120" indent="0">
              <a:buNone/>
              <a:defRPr sz="4800"/>
            </a:lvl3pPr>
            <a:lvl4pPr marL="6583680" indent="0">
              <a:buNone/>
              <a:defRPr sz="4300"/>
            </a:lvl4pPr>
            <a:lvl5pPr marL="8778240" indent="0">
              <a:buNone/>
              <a:defRPr sz="4300"/>
            </a:lvl5pPr>
            <a:lvl6pPr marL="10972800" indent="0">
              <a:buNone/>
              <a:defRPr sz="4300"/>
            </a:lvl6pPr>
            <a:lvl7pPr marL="13167360" indent="0">
              <a:buNone/>
              <a:defRPr sz="4300"/>
            </a:lvl7pPr>
            <a:lvl8pPr marL="15361920" indent="0">
              <a:buNone/>
              <a:defRPr sz="4300"/>
            </a:lvl8pPr>
            <a:lvl9pPr marL="17556480" indent="0">
              <a:buNone/>
              <a:defRPr sz="43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54311-7587-4D34-8FEB-00F5F44EE468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B9E56-446F-436F-B5CD-93177A045126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54311-7587-4D34-8FEB-00F5F44EE468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B9E56-446F-436F-B5CD-93177A045126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2742905" y="6324600"/>
            <a:ext cx="47404018" cy="1348206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530843" y="6324600"/>
            <a:ext cx="141480542" cy="134820662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54311-7587-4D34-8FEB-00F5F44EE468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B9E56-446F-436F-B5CD-93177A045126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194560" y="1318262"/>
            <a:ext cx="39502080" cy="5486400"/>
          </a:xfrm>
          <a:prstGeom prst="rect">
            <a:avLst/>
          </a:prstGeom>
        </p:spPr>
        <p:txBody>
          <a:bodyPr vert="horz" lIns="438912" tIns="219456" rIns="438912" bIns="219456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94560" y="7680963"/>
            <a:ext cx="39502080" cy="21724622"/>
          </a:xfrm>
          <a:prstGeom prst="rect">
            <a:avLst/>
          </a:prstGeom>
        </p:spPr>
        <p:txBody>
          <a:bodyPr vert="horz" lIns="438912" tIns="219456" rIns="438912" bIns="219456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194560" y="30510482"/>
            <a:ext cx="10241280" cy="1752600"/>
          </a:xfrm>
          <a:prstGeom prst="rect">
            <a:avLst/>
          </a:prstGeom>
        </p:spPr>
        <p:txBody>
          <a:bodyPr vert="horz" lIns="438912" tIns="219456" rIns="438912" bIns="219456" rtlCol="0" anchor="ctr"/>
          <a:lstStyle>
            <a:lvl1pPr algn="l">
              <a:defRPr sz="5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B54311-7587-4D34-8FEB-00F5F44EE468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996160" y="30510482"/>
            <a:ext cx="13898880" cy="1752600"/>
          </a:xfrm>
          <a:prstGeom prst="rect">
            <a:avLst/>
          </a:prstGeom>
        </p:spPr>
        <p:txBody>
          <a:bodyPr vert="horz" lIns="438912" tIns="219456" rIns="438912" bIns="219456" rtlCol="0" anchor="ctr"/>
          <a:lstStyle>
            <a:lvl1pPr algn="ctr">
              <a:defRPr sz="5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1455360" y="30510482"/>
            <a:ext cx="10241280" cy="1752600"/>
          </a:xfrm>
          <a:prstGeom prst="rect">
            <a:avLst/>
          </a:prstGeom>
        </p:spPr>
        <p:txBody>
          <a:bodyPr vert="horz" lIns="438912" tIns="219456" rIns="438912" bIns="219456" rtlCol="0" anchor="ctr"/>
          <a:lstStyle>
            <a:lvl1pPr algn="r">
              <a:defRPr sz="5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AB9E56-446F-436F-B5CD-93177A045126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389120" rtl="0" eaLnBrk="1" latinLnBrk="0" hangingPunct="1">
        <a:spcBef>
          <a:spcPct val="0"/>
        </a:spcBef>
        <a:buNone/>
        <a:defRPr sz="21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45920" indent="-1645920" algn="l" defTabSz="4389120" rtl="0" eaLnBrk="1" latinLnBrk="0" hangingPunct="1">
        <a:spcBef>
          <a:spcPct val="20000"/>
        </a:spcBef>
        <a:buFont typeface="Arial" pitchFamily="34" charset="0"/>
        <a:buChar char="•"/>
        <a:defRPr sz="15400" kern="1200">
          <a:solidFill>
            <a:schemeClr val="tx1"/>
          </a:solidFill>
          <a:latin typeface="+mn-lt"/>
          <a:ea typeface="+mn-ea"/>
          <a:cs typeface="+mn-cs"/>
        </a:defRPr>
      </a:lvl1pPr>
      <a:lvl2pPr marL="3566160" indent="-1371600" algn="l" defTabSz="4389120" rtl="0" eaLnBrk="1" latinLnBrk="0" hangingPunct="1">
        <a:spcBef>
          <a:spcPct val="20000"/>
        </a:spcBef>
        <a:buFont typeface="Arial" pitchFamily="34" charset="0"/>
        <a:buChar char="–"/>
        <a:defRPr sz="1340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1150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spcBef>
          <a:spcPct val="20000"/>
        </a:spcBef>
        <a:buFont typeface="Arial" pitchFamily="34" charset="0"/>
        <a:buChar char="–"/>
        <a:defRPr sz="960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spcBef>
          <a:spcPct val="20000"/>
        </a:spcBef>
        <a:buFont typeface="Arial" pitchFamily="34" charset="0"/>
        <a:buChar char="»"/>
        <a:defRPr sz="960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0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0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0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0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0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0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0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0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58142B9-D3A4-C35D-88C2-8112A58B257D}"/>
              </a:ext>
            </a:extLst>
          </p:cNvPr>
          <p:cNvPicPr>
            <a:picLocks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800" y="304800"/>
            <a:ext cx="2286000" cy="28702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8A77BC3-4142-5C3F-F6FB-2A71F94A3D3F}"/>
              </a:ext>
            </a:extLst>
          </p:cNvPr>
          <p:cNvSpPr txBox="1"/>
          <p:nvPr/>
        </p:nvSpPr>
        <p:spPr>
          <a:xfrm>
            <a:off x="3429000" y="228600"/>
            <a:ext cx="38608000" cy="584775"/>
          </a:xfrm>
          <a:prstGeom prst="rect">
            <a:avLst/>
          </a:prstGeom>
          <a:noFill/>
        </p:spPr>
        <p:txBody>
          <a:bodyPr vert="horz" wrap="square" lIns="25400" tIns="0" rIns="25400" bIns="0" rtlCol="0">
            <a:spAutoFit/>
          </a:bodyPr>
          <a:lstStyle/>
          <a:p>
            <a:pPr algn="ctr"/>
            <a:r>
              <a:rPr lang="en-US" sz="3800" b="1">
                <a:solidFill>
                  <a:srgbClr val="40464F"/>
                </a:solidFill>
                <a:latin typeface="Arial" panose="020B0604020202020204" pitchFamily="34" charset="0"/>
              </a:rPr>
              <a:t>Preliminary Design Tool for Flying Wing Unmanned Aerial Systems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519C1D-89E0-46FC-BB57-4CD50B72AA1F}"/>
              </a:ext>
            </a:extLst>
          </p:cNvPr>
          <p:cNvSpPr txBox="1"/>
          <p:nvPr/>
        </p:nvSpPr>
        <p:spPr>
          <a:xfrm>
            <a:off x="3429000" y="1092200"/>
            <a:ext cx="38608000" cy="369332"/>
          </a:xfrm>
          <a:prstGeom prst="rect">
            <a:avLst/>
          </a:prstGeom>
          <a:noFill/>
        </p:spPr>
        <p:txBody>
          <a:bodyPr vert="horz" wrap="square" lIns="25400" tIns="0" rIns="25400" bIns="0" rtlCol="0">
            <a:spAutoFit/>
          </a:bodyPr>
          <a:lstStyle/>
          <a:p>
            <a:pPr algn="ctr"/>
            <a:r>
              <a:rPr lang="en-US" sz="2400" b="1">
                <a:solidFill>
                  <a:srgbClr val="40464F"/>
                </a:solidFill>
                <a:latin typeface="Arial" panose="020B0604020202020204" pitchFamily="34" charset="0"/>
              </a:rPr>
              <a:t>Malik Henry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3217D4-8F75-5367-1DE0-F7E50F80D2C6}"/>
              </a:ext>
            </a:extLst>
          </p:cNvPr>
          <p:cNvSpPr txBox="1"/>
          <p:nvPr/>
        </p:nvSpPr>
        <p:spPr>
          <a:xfrm>
            <a:off x="3429000" y="1524000"/>
            <a:ext cx="38608000" cy="246221"/>
          </a:xfrm>
          <a:prstGeom prst="rect">
            <a:avLst/>
          </a:prstGeom>
          <a:noFill/>
        </p:spPr>
        <p:txBody>
          <a:bodyPr vert="horz" wrap="square" lIns="25400" tIns="0" rIns="25400" bIns="0" rtlCol="0">
            <a:spAutoFit/>
          </a:bodyPr>
          <a:lstStyle/>
          <a:p>
            <a:pPr algn="ctr"/>
            <a:r>
              <a:rPr lang="en-US" sz="1600">
                <a:solidFill>
                  <a:srgbClr val="40464F"/>
                </a:solidFill>
                <a:latin typeface="Arial" panose="020B0604020202020204" pitchFamily="34" charset="0"/>
              </a:rPr>
              <a:t>North Carolina Agricultural and Technical State University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A5E276-650F-3F14-DA09-882BD17DB17E}"/>
              </a:ext>
            </a:extLst>
          </p:cNvPr>
          <p:cNvSpPr txBox="1"/>
          <p:nvPr/>
        </p:nvSpPr>
        <p:spPr>
          <a:xfrm>
            <a:off x="3429000" y="1854200"/>
            <a:ext cx="38608000" cy="223138"/>
          </a:xfrm>
          <a:prstGeom prst="rect">
            <a:avLst/>
          </a:prstGeom>
          <a:noFill/>
        </p:spPr>
        <p:txBody>
          <a:bodyPr vert="horz" wrap="square" lIns="25400" tIns="0" rIns="25400" bIns="0" rtlCol="0">
            <a:spAutoFit/>
          </a:bodyPr>
          <a:lstStyle/>
          <a:p>
            <a:pPr algn="ctr"/>
            <a:r>
              <a:rPr lang="en-US" sz="1450">
                <a:solidFill>
                  <a:srgbClr val="40464F"/>
                </a:solidFill>
                <a:latin typeface="Arial" panose="020B0604020202020204" pitchFamily="34" charset="0"/>
              </a:rPr>
              <a:t>Department of Mechanical Engineering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ABCF7E-531D-A601-A482-F1759EB0F0F1}"/>
              </a:ext>
            </a:extLst>
          </p:cNvPr>
          <p:cNvSpPr txBox="1"/>
          <p:nvPr/>
        </p:nvSpPr>
        <p:spPr>
          <a:xfrm>
            <a:off x="3429000" y="2235200"/>
            <a:ext cx="38608000" cy="223138"/>
          </a:xfrm>
          <a:prstGeom prst="rect">
            <a:avLst/>
          </a:prstGeom>
          <a:noFill/>
        </p:spPr>
        <p:txBody>
          <a:bodyPr vert="horz" wrap="square" lIns="25400" tIns="0" rIns="25400" bIns="0" rtlCol="0">
            <a:spAutoFit/>
          </a:bodyPr>
          <a:lstStyle/>
          <a:p>
            <a:pPr algn="ctr"/>
            <a:r>
              <a:rPr lang="en-US" sz="1450">
                <a:solidFill>
                  <a:srgbClr val="40464F"/>
                </a:solidFill>
                <a:latin typeface="Arial" panose="020B0604020202020204" pitchFamily="34" charset="0"/>
              </a:rPr>
              <a:t>Thesis contribution: an integrated preliminary-design workflow that keeps geometry, aerodynamics, structure, mission, and export tied to one aircraft definition.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189F63F-2905-1C5E-2080-159A960D0E12}"/>
              </a:ext>
            </a:extLst>
          </p:cNvPr>
          <p:cNvSpPr/>
          <p:nvPr/>
        </p:nvSpPr>
        <p:spPr>
          <a:xfrm>
            <a:off x="533400" y="3429000"/>
            <a:ext cx="14414500" cy="762000"/>
          </a:xfrm>
          <a:prstGeom prst="rect">
            <a:avLst/>
          </a:prstGeom>
          <a:solidFill>
            <a:srgbClr val="044684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88900" rIns="50800" bIns="25400" rtlCol="0" anchor="ctr"/>
          <a:lstStyle/>
          <a:p>
            <a:r>
              <a:rPr lang="en-US" sz="2900" b="1">
                <a:solidFill>
                  <a:srgbClr val="FFFFFF"/>
                </a:solidFill>
                <a:latin typeface="Arial" panose="020B0604020202020204" pitchFamily="34" charset="0"/>
              </a:rPr>
              <a:t>Abstract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80FBD4-D294-5DC4-1B0F-3D0DE0D45FBF}"/>
              </a:ext>
            </a:extLst>
          </p:cNvPr>
          <p:cNvSpPr txBox="1"/>
          <p:nvPr/>
        </p:nvSpPr>
        <p:spPr>
          <a:xfrm>
            <a:off x="533400" y="4267200"/>
            <a:ext cx="14414500" cy="2031325"/>
          </a:xfrm>
          <a:prstGeom prst="rect">
            <a:avLst/>
          </a:prstGeom>
          <a:noFill/>
        </p:spPr>
        <p:txBody>
          <a:bodyPr vert="horz" wrap="square" lIns="25400" tIns="0" rIns="25400" bIns="0" rtlCol="0">
            <a:spAutoFit/>
          </a:bodyPr>
          <a:lstStyle/>
          <a:p>
            <a:r>
              <a:rPr lang="en-US" sz="2200">
                <a:solidFill>
                  <a:srgbClr val="40464F"/>
                </a:solidFill>
                <a:latin typeface="Arial" panose="020B0604020202020204" pitchFamily="34" charset="0"/>
              </a:rPr>
              <a:t>The Flying Wing Tool is a preliminary-design environment for tailless aircraft built around one shared project model. The research problem addressed here is workflow fragmentation: geometry, aerodynamics, structure, mission, and export are often separated across different tools, which slows iteration and allows assumptions to drift. The implemented environment keeps those tasks tied to one aircraft definition. A representative blended-wing case study plus an independent BARAM CFD path were used to show both the value and the present limits of that workflow.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D9F140-10DD-199E-143E-D69C52402B44}"/>
              </a:ext>
            </a:extLst>
          </p:cNvPr>
          <p:cNvSpPr/>
          <p:nvPr/>
        </p:nvSpPr>
        <p:spPr>
          <a:xfrm>
            <a:off x="533400" y="6248400"/>
            <a:ext cx="14414500" cy="762000"/>
          </a:xfrm>
          <a:prstGeom prst="rect">
            <a:avLst/>
          </a:prstGeom>
          <a:solidFill>
            <a:srgbClr val="044684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88900" rIns="50800" bIns="25400" rtlCol="0" anchor="ctr"/>
          <a:lstStyle/>
          <a:p>
            <a:r>
              <a:rPr lang="en-US" sz="2900" b="1">
                <a:solidFill>
                  <a:srgbClr val="FFFFFF"/>
                </a:solidFill>
                <a:latin typeface="Arial" panose="020B0604020202020204" pitchFamily="34" charset="0"/>
              </a:rPr>
              <a:t>Research Gap and Contribution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50FFC0-F52A-6D39-FCF3-BDC30FF07DC0}"/>
              </a:ext>
            </a:extLst>
          </p:cNvPr>
          <p:cNvSpPr txBox="1"/>
          <p:nvPr/>
        </p:nvSpPr>
        <p:spPr>
          <a:xfrm>
            <a:off x="533400" y="7086600"/>
            <a:ext cx="14414500" cy="1169551"/>
          </a:xfrm>
          <a:prstGeom prst="rect">
            <a:avLst/>
          </a:prstGeom>
          <a:noFill/>
        </p:spPr>
        <p:txBody>
          <a:bodyPr vert="horz" wrap="square" lIns="25400" tIns="0" rIns="25400" bIns="0" rtlCol="0">
            <a:spAutoFit/>
          </a:bodyPr>
          <a:lstStyle/>
          <a:p>
            <a:pPr marL="457200" indent="-457200">
              <a:buFont typeface="+mj-lt"/>
              <a:buChar char="•"/>
            </a:pPr>
            <a:r>
              <a:rPr lang="en-US" sz="1900">
                <a:solidFill>
                  <a:srgbClr val="40464F"/>
                </a:solidFill>
                <a:latin typeface="Arial" panose="020B0604020202020204" pitchFamily="34" charset="0"/>
              </a:rPr>
              <a:t>Flying-wing design is tightly coupled: planform and twist changes affect trim, loading, structure, and manufacturability together.</a:t>
            </a:r>
          </a:p>
          <a:p>
            <a:pPr marL="457200" indent="-457200">
              <a:buFont typeface="+mj-lt"/>
              <a:buChar char="•"/>
            </a:pPr>
            <a:r>
              <a:rPr lang="en-US" sz="1900">
                <a:solidFill>
                  <a:srgbClr val="40464F"/>
                </a:solidFill>
                <a:latin typeface="Arial" panose="020B0604020202020204" pitchFamily="34" charset="0"/>
              </a:rPr>
              <a:t>Fragmented tool chains slow iteration because geometry and assumptions are repeatedly re-entered.</a:t>
            </a:r>
          </a:p>
          <a:p>
            <a:pPr marL="457200" indent="-457200">
              <a:buFont typeface="+mj-lt"/>
              <a:buChar char="•"/>
            </a:pPr>
            <a:r>
              <a:rPr lang="en-US" sz="1900">
                <a:solidFill>
                  <a:srgbClr val="40464F"/>
                </a:solidFill>
                <a:latin typeface="Arial" panose="020B0604020202020204" pitchFamily="34" charset="0"/>
              </a:rPr>
              <a:t>The main contribution is software integration: one serialized project state supports geometry, aerodynamics, mission, structure, and export.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AEE66C1-EB6B-074F-8ACF-4B0511573604}"/>
              </a:ext>
            </a:extLst>
          </p:cNvPr>
          <p:cNvSpPr/>
          <p:nvPr/>
        </p:nvSpPr>
        <p:spPr>
          <a:xfrm>
            <a:off x="533400" y="8686800"/>
            <a:ext cx="14414500" cy="762000"/>
          </a:xfrm>
          <a:prstGeom prst="rect">
            <a:avLst/>
          </a:prstGeom>
          <a:solidFill>
            <a:srgbClr val="044684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88900" rIns="50800" bIns="25400" rtlCol="0" anchor="ctr"/>
          <a:lstStyle/>
          <a:p>
            <a:r>
              <a:rPr lang="en-US" sz="2900" b="1">
                <a:solidFill>
                  <a:srgbClr val="FFFFFF"/>
                </a:solidFill>
                <a:latin typeface="Arial" panose="020B0604020202020204" pitchFamily="34" charset="0"/>
              </a:rPr>
              <a:t>Implemented Workflow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B896950-B15B-3616-63F9-A9FB7AED52DC}"/>
              </a:ext>
            </a:extLst>
          </p:cNvPr>
          <p:cNvSpPr txBox="1"/>
          <p:nvPr/>
        </p:nvSpPr>
        <p:spPr>
          <a:xfrm>
            <a:off x="533400" y="9525000"/>
            <a:ext cx="14414500" cy="1138773"/>
          </a:xfrm>
          <a:prstGeom prst="rect">
            <a:avLst/>
          </a:prstGeom>
          <a:noFill/>
        </p:spPr>
        <p:txBody>
          <a:bodyPr vert="horz" wrap="square" lIns="25400" tIns="0" rIns="25400" bIns="0" rtlCol="0">
            <a:spAutoFit/>
          </a:bodyPr>
          <a:lstStyle/>
          <a:p>
            <a:pPr marL="457200" indent="-457200">
              <a:buFont typeface="+mj-lt"/>
              <a:buChar char="•"/>
            </a:pPr>
            <a:r>
              <a:rPr lang="en-US" sz="1850">
                <a:solidFill>
                  <a:srgbClr val="40464F"/>
                </a:solidFill>
                <a:latin typeface="Arial" panose="020B0604020202020204" pitchFamily="34" charset="0"/>
              </a:rPr>
              <a:t>GUI tabs: Geometry, Analysis, Mission, Structure, and Export.</a:t>
            </a:r>
          </a:p>
          <a:p>
            <a:pPr marL="457200" indent="-457200">
              <a:buFont typeface="+mj-lt"/>
              <a:buChar char="•"/>
            </a:pPr>
            <a:r>
              <a:rPr lang="en-US" sz="1850">
                <a:solidFill>
                  <a:srgbClr val="40464F"/>
                </a:solidFill>
                <a:latin typeface="Arial" panose="020B0604020202020204" pitchFamily="34" charset="0"/>
              </a:rPr>
              <a:t>Shared state: one project object stores wing definition, trim assumptions, mission settings, and outputs.</a:t>
            </a:r>
          </a:p>
          <a:p>
            <a:pPr marL="457200" indent="-457200">
              <a:buFont typeface="+mj-lt"/>
              <a:buChar char="•"/>
            </a:pPr>
            <a:r>
              <a:rPr lang="en-US" sz="1850">
                <a:solidFill>
                  <a:srgbClr val="40464F"/>
                </a:solidFill>
                <a:latin typeface="Arial" panose="020B0604020202020204" pitchFamily="34" charset="0"/>
              </a:rPr>
              <a:t>Service layer: geometry or aerodynamics, mission or propulsion, wingbox-oriented structure, and export.</a:t>
            </a:r>
          </a:p>
          <a:p>
            <a:pPr marL="457200" indent="-457200">
              <a:buFont typeface="+mj-lt"/>
              <a:buChar char="•"/>
            </a:pPr>
            <a:r>
              <a:rPr lang="en-US" sz="1850">
                <a:solidFill>
                  <a:srgbClr val="40464F"/>
                </a:solidFill>
                <a:latin typeface="Arial" panose="020B0604020202020204" pitchFamily="34" charset="0"/>
              </a:rPr>
              <a:t>Reproducibility path: run_full_analysis.py reloads saved projects for repeatable reruns.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3724BB-CE9C-0FC1-9CEF-001A421AA5BD}"/>
              </a:ext>
            </a:extLst>
          </p:cNvPr>
          <p:cNvSpPr txBox="1"/>
          <p:nvPr/>
        </p:nvSpPr>
        <p:spPr>
          <a:xfrm>
            <a:off x="533400" y="11455400"/>
            <a:ext cx="14414500" cy="323165"/>
          </a:xfrm>
          <a:prstGeom prst="rect">
            <a:avLst/>
          </a:prstGeom>
          <a:noFill/>
        </p:spPr>
        <p:txBody>
          <a:bodyPr vert="horz" wrap="square" lIns="25400" tIns="0" rIns="25400" bIns="0" rtlCol="0">
            <a:spAutoFit/>
          </a:bodyPr>
          <a:lstStyle/>
          <a:p>
            <a:r>
              <a:rPr lang="en-US" sz="2100" b="1">
                <a:solidFill>
                  <a:srgbClr val="044684"/>
                </a:solidFill>
                <a:latin typeface="Arial" panose="020B0604020202020204" pitchFamily="34" charset="0"/>
              </a:rPr>
              <a:t>Capability snapshot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F6988764-C1AD-FB70-B03C-F5B9ED00AF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6797940"/>
              </p:ext>
            </p:extLst>
          </p:nvPr>
        </p:nvGraphicFramePr>
        <p:xfrm>
          <a:off x="533400" y="11861800"/>
          <a:ext cx="14414500" cy="3378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828027022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629532416"/>
                    </a:ext>
                  </a:extLst>
                </a:gridCol>
                <a:gridCol w="10731500">
                  <a:extLst>
                    <a:ext uri="{9D8B030D-6E8A-4147-A177-3AD203B41FA5}">
                      <a16:colId xmlns:a16="http://schemas.microsoft.com/office/drawing/2014/main" val="78824970"/>
                    </a:ext>
                  </a:extLst>
                </a:gridCol>
              </a:tblGrid>
              <a:tr h="4826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Module</a:t>
                      </a:r>
                    </a:p>
                  </a:txBody>
                  <a:tcPr marL="50800" marR="50800" marT="25400" marB="12700">
                    <a:solidFill>
                      <a:srgbClr val="04468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State</a:t>
                      </a:r>
                    </a:p>
                  </a:txBody>
                  <a:tcPr marL="50800" marR="50800" marT="25400" marB="12700">
                    <a:solidFill>
                      <a:srgbClr val="04468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Role in the current thesis scope</a:t>
                      </a:r>
                    </a:p>
                  </a:txBody>
                  <a:tcPr marL="50800" marR="50800" marT="25400" marB="12700">
                    <a:solidFill>
                      <a:srgbClr val="0446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778663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Geometry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Active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Parametric planform, airfoil, control-surface, and section generation</a:t>
                      </a:r>
                    </a:p>
                  </a:txBody>
                  <a:tcPr marL="50800" marR="50800" marT="25400" marB="12700"/>
                </a:tc>
                <a:extLst>
                  <a:ext uri="{0D108BD9-81ED-4DB2-BD59-A6C34878D82A}">
                    <a16:rowId xmlns:a16="http://schemas.microsoft.com/office/drawing/2014/main" val="3577937223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Analysis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Active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Aero polars, twist synthesis, and performance metrics</a:t>
                      </a:r>
                    </a:p>
                  </a:txBody>
                  <a:tcPr marL="50800" marR="50800" marT="25400" marB="12700"/>
                </a:tc>
                <a:extLst>
                  <a:ext uri="{0D108BD9-81ED-4DB2-BD59-A6C34878D82A}">
                    <a16:rowId xmlns:a16="http://schemas.microsoft.com/office/drawing/2014/main" val="570812680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Mission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Active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Stored mission simulation and phase-level summaries</a:t>
                      </a:r>
                    </a:p>
                  </a:txBody>
                  <a:tcPr marL="50800" marR="50800" marT="25400" marB="12700"/>
                </a:tc>
                <a:extLst>
                  <a:ext uri="{0D108BD9-81ED-4DB2-BD59-A6C34878D82A}">
                    <a16:rowId xmlns:a16="http://schemas.microsoft.com/office/drawing/2014/main" val="553728422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Structure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Active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Wingbox sizing, margins, deflection, and feasibility checks</a:t>
                      </a:r>
                    </a:p>
                  </a:txBody>
                  <a:tcPr marL="50800" marR="50800" marT="25400" marB="12700"/>
                </a:tc>
                <a:extLst>
                  <a:ext uri="{0D108BD9-81ED-4DB2-BD59-A6C34878D82A}">
                    <a16:rowId xmlns:a16="http://schemas.microsoft.com/office/drawing/2014/main" val="2601503443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Export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Active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CAD and manufacturing-oriented geometry handoff</a:t>
                      </a:r>
                    </a:p>
                  </a:txBody>
                  <a:tcPr marL="50800" marR="50800" marT="25400" marB="12700"/>
                </a:tc>
                <a:extLst>
                  <a:ext uri="{0D108BD9-81ED-4DB2-BD59-A6C34878D82A}">
                    <a16:rowId xmlns:a16="http://schemas.microsoft.com/office/drawing/2014/main" val="2279730587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Batch rerun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Active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File-based reproducibility from saved projects</a:t>
                      </a:r>
                    </a:p>
                  </a:txBody>
                  <a:tcPr marL="50800" marR="50800" marT="25400" marB="12700"/>
                </a:tc>
                <a:extLst>
                  <a:ext uri="{0D108BD9-81ED-4DB2-BD59-A6C34878D82A}">
                    <a16:rowId xmlns:a16="http://schemas.microsoft.com/office/drawing/2014/main" val="307339366"/>
                  </a:ext>
                </a:extLst>
              </a:tr>
            </a:tbl>
          </a:graphicData>
        </a:graphic>
      </p:graphicFrame>
      <p:pic>
        <p:nvPicPr>
          <p:cNvPr id="20" name="Picture 19">
            <a:extLst>
              <a:ext uri="{FF2B5EF4-FFF2-40B4-BE49-F238E27FC236}">
                <a16:creationId xmlns:a16="http://schemas.microsoft.com/office/drawing/2014/main" id="{F7AEFBEB-71A8-44FB-66C1-BADFBD8638F8}"/>
              </a:ext>
            </a:extLst>
          </p:cNvPr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15468600"/>
            <a:ext cx="6959600" cy="328022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B550C4B4-2E2E-6E33-96AA-3205054DCB87}"/>
              </a:ext>
            </a:extLst>
          </p:cNvPr>
          <p:cNvSpPr txBox="1"/>
          <p:nvPr/>
        </p:nvSpPr>
        <p:spPr>
          <a:xfrm>
            <a:off x="533400" y="18821400"/>
            <a:ext cx="69596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>
                <a:solidFill>
                  <a:srgbClr val="40464F"/>
                </a:solidFill>
                <a:latin typeface="Arial" panose="020B0604020202020204" pitchFamily="34" charset="0"/>
              </a:rPr>
              <a:t>Geometry tab for planform, airfoil, and control-surface definition.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25F3524-0964-3E51-E2F1-2A4ECCECD0C9}"/>
              </a:ext>
            </a:extLst>
          </p:cNvPr>
          <p:cNvPicPr>
            <a:picLocks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88300" y="15468600"/>
            <a:ext cx="6959600" cy="3181635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30088358-C4F2-2761-14E8-AED12EE6CFB4}"/>
              </a:ext>
            </a:extLst>
          </p:cNvPr>
          <p:cNvSpPr txBox="1"/>
          <p:nvPr/>
        </p:nvSpPr>
        <p:spPr>
          <a:xfrm>
            <a:off x="7988300" y="18821400"/>
            <a:ext cx="69596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>
                <a:solidFill>
                  <a:srgbClr val="40464F"/>
                </a:solidFill>
                <a:latin typeface="Arial" panose="020B0604020202020204" pitchFamily="34" charset="0"/>
              </a:rPr>
              <a:t>Analysis tab for aerodynamic sweeps and post-processing.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024A170-852E-E962-5E42-CC202FD7DED1}"/>
              </a:ext>
            </a:extLst>
          </p:cNvPr>
          <p:cNvSpPr/>
          <p:nvPr/>
        </p:nvSpPr>
        <p:spPr>
          <a:xfrm>
            <a:off x="533400" y="19558000"/>
            <a:ext cx="14414500" cy="762000"/>
          </a:xfrm>
          <a:prstGeom prst="rect">
            <a:avLst/>
          </a:prstGeom>
          <a:solidFill>
            <a:srgbClr val="044684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88900" rIns="50800" bIns="25400" rtlCol="0" anchor="ctr"/>
          <a:lstStyle/>
          <a:p>
            <a:r>
              <a:rPr lang="en-US" sz="2900" b="1">
                <a:solidFill>
                  <a:srgbClr val="FFFFFF"/>
                </a:solidFill>
                <a:latin typeface="Arial" panose="020B0604020202020204" pitchFamily="34" charset="0"/>
              </a:rPr>
              <a:t>Why the Integrated Loop Matters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271DC2E-1A3D-E1EF-8C7A-89EF6F1CD964}"/>
              </a:ext>
            </a:extLst>
          </p:cNvPr>
          <p:cNvSpPr txBox="1"/>
          <p:nvPr/>
        </p:nvSpPr>
        <p:spPr>
          <a:xfrm>
            <a:off x="533400" y="20396200"/>
            <a:ext cx="14414500" cy="877163"/>
          </a:xfrm>
          <a:prstGeom prst="rect">
            <a:avLst/>
          </a:prstGeom>
          <a:noFill/>
        </p:spPr>
        <p:txBody>
          <a:bodyPr vert="horz" wrap="square" lIns="25400" tIns="0" rIns="25400" bIns="0" rtlCol="0">
            <a:spAutoFit/>
          </a:bodyPr>
          <a:lstStyle/>
          <a:p>
            <a:pPr marL="457200" indent="-457200">
              <a:buFont typeface="+mj-lt"/>
              <a:buChar char="•"/>
            </a:pPr>
            <a:r>
              <a:rPr lang="en-US" sz="1900">
                <a:solidFill>
                  <a:srgbClr val="40464F"/>
                </a:solidFill>
                <a:latin typeface="Arial" panose="020B0604020202020204" pitchFamily="34" charset="0"/>
              </a:rPr>
              <a:t>The same spanwise sections drive aerodynamic loading, structural sizing, and exported geometry.</a:t>
            </a:r>
          </a:p>
          <a:p>
            <a:pPr marL="457200" indent="-457200">
              <a:buFont typeface="+mj-lt"/>
              <a:buChar char="•"/>
            </a:pPr>
            <a:r>
              <a:rPr lang="en-US" sz="1900">
                <a:solidFill>
                  <a:srgbClr val="40464F"/>
                </a:solidFill>
                <a:latin typeface="Arial" panose="020B0604020202020204" pitchFamily="34" charset="0"/>
              </a:rPr>
              <a:t>Twist optimization is written back into the same project state used for later structural and mission analysis.</a:t>
            </a:r>
          </a:p>
          <a:p>
            <a:pPr marL="457200" indent="-457200">
              <a:buFont typeface="+mj-lt"/>
              <a:buChar char="•"/>
            </a:pPr>
            <a:r>
              <a:rPr lang="en-US" sz="1900">
                <a:solidFill>
                  <a:srgbClr val="40464F"/>
                </a:solidFill>
                <a:latin typeface="Arial" panose="020B0604020202020204" pitchFamily="34" charset="0"/>
              </a:rPr>
              <a:t>One saved case can expose aerodynamic promise together with a governing structural or drag limitation.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2C18F77-EA4B-64D8-0C29-67C9A4536092}"/>
              </a:ext>
            </a:extLst>
          </p:cNvPr>
          <p:cNvSpPr/>
          <p:nvPr/>
        </p:nvSpPr>
        <p:spPr>
          <a:xfrm>
            <a:off x="15494000" y="3429000"/>
            <a:ext cx="14414500" cy="762000"/>
          </a:xfrm>
          <a:prstGeom prst="rect">
            <a:avLst/>
          </a:prstGeom>
          <a:solidFill>
            <a:srgbClr val="044684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88900" rIns="50800" bIns="25400" rtlCol="0" anchor="ctr"/>
          <a:lstStyle/>
          <a:p>
            <a:r>
              <a:rPr lang="en-US" sz="2900" b="1">
                <a:solidFill>
                  <a:srgbClr val="FFFFFF"/>
                </a:solidFill>
                <a:latin typeface="Arial" panose="020B0604020202020204" pitchFamily="34" charset="0"/>
              </a:rPr>
              <a:t>Representative Case: IntendedValidation2</a:t>
            </a:r>
          </a:p>
        </p:txBody>
      </p:sp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03C8F4D1-F4FE-A199-7A33-E7C479FEEC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7130968"/>
              </p:ext>
            </p:extLst>
          </p:nvPr>
        </p:nvGraphicFramePr>
        <p:xfrm>
          <a:off x="15494000" y="4267200"/>
          <a:ext cx="14414500" cy="2463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>
                  <a:extLst>
                    <a:ext uri="{9D8B030D-6E8A-4147-A177-3AD203B41FA5}">
                      <a16:colId xmlns:a16="http://schemas.microsoft.com/office/drawing/2014/main" val="3431416453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480190970"/>
                    </a:ext>
                  </a:extLst>
                </a:gridCol>
                <a:gridCol w="2349500">
                  <a:extLst>
                    <a:ext uri="{9D8B030D-6E8A-4147-A177-3AD203B41FA5}">
                      <a16:colId xmlns:a16="http://schemas.microsoft.com/office/drawing/2014/main" val="1499372329"/>
                    </a:ext>
                  </a:extLst>
                </a:gridCol>
                <a:gridCol w="7112000">
                  <a:extLst>
                    <a:ext uri="{9D8B030D-6E8A-4147-A177-3AD203B41FA5}">
                      <a16:colId xmlns:a16="http://schemas.microsoft.com/office/drawing/2014/main" val="1593209241"/>
                    </a:ext>
                  </a:extLst>
                </a:gridCol>
              </a:tblGrid>
              <a:tr h="410633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Planform area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1.625 m^2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Cruise speed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19.95 m/s</a:t>
                      </a:r>
                    </a:p>
                  </a:txBody>
                  <a:tcPr marL="50800" marR="50800" marT="25400" marB="12700"/>
                </a:tc>
                <a:extLst>
                  <a:ext uri="{0D108BD9-81ED-4DB2-BD59-A6C34878D82A}">
                    <a16:rowId xmlns:a16="http://schemas.microsoft.com/office/drawing/2014/main" val="3503367134"/>
                  </a:ext>
                </a:extLst>
              </a:tr>
              <a:tr h="410633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Span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3.025 m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Takeoff speed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13.34 m/s</a:t>
                      </a:r>
                    </a:p>
                  </a:txBody>
                  <a:tcPr marL="50800" marR="50800" marT="25400" marB="12700"/>
                </a:tc>
                <a:extLst>
                  <a:ext uri="{0D108BD9-81ED-4DB2-BD59-A6C34878D82A}">
                    <a16:rowId xmlns:a16="http://schemas.microsoft.com/office/drawing/2014/main" val="848969109"/>
                  </a:ext>
                </a:extLst>
              </a:tr>
              <a:tr h="410633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Aspect ratio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5.63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Cruise angle of attack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0.00 deg</a:t>
                      </a:r>
                    </a:p>
                  </a:txBody>
                  <a:tcPr marL="50800" marR="50800" marT="25400" marB="12700"/>
                </a:tc>
                <a:extLst>
                  <a:ext uri="{0D108BD9-81ED-4DB2-BD59-A6C34878D82A}">
                    <a16:rowId xmlns:a16="http://schemas.microsoft.com/office/drawing/2014/main" val="2983974947"/>
                  </a:ext>
                </a:extLst>
              </a:tr>
              <a:tr h="410633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Gross weight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12.0 kg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Takeoff angle of attack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5.09 deg</a:t>
                      </a:r>
                    </a:p>
                  </a:txBody>
                  <a:tcPr marL="50800" marR="50800" marT="25400" marB="12700"/>
                </a:tc>
                <a:extLst>
                  <a:ext uri="{0D108BD9-81ED-4DB2-BD59-A6C34878D82A}">
                    <a16:rowId xmlns:a16="http://schemas.microsoft.com/office/drawing/2014/main" val="2100003985"/>
                  </a:ext>
                </a:extLst>
              </a:tr>
              <a:tr h="410633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Lift target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Bell-shaped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Control surface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Single elevon set</a:t>
                      </a:r>
                    </a:p>
                  </a:txBody>
                  <a:tcPr marL="50800" marR="50800" marT="25400" marB="12700"/>
                </a:tc>
                <a:extLst>
                  <a:ext uri="{0D108BD9-81ED-4DB2-BD59-A6C34878D82A}">
                    <a16:rowId xmlns:a16="http://schemas.microsoft.com/office/drawing/2014/main" val="2644837566"/>
                  </a:ext>
                </a:extLst>
              </a:tr>
              <a:tr h="410633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Static margin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8%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Centerbody type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2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Blended body sections</a:t>
                      </a:r>
                    </a:p>
                  </a:txBody>
                  <a:tcPr marL="50800" marR="50800" marT="25400" marB="12700"/>
                </a:tc>
                <a:extLst>
                  <a:ext uri="{0D108BD9-81ED-4DB2-BD59-A6C34878D82A}">
                    <a16:rowId xmlns:a16="http://schemas.microsoft.com/office/drawing/2014/main" val="957011219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479B208B-039F-5360-30A9-D496636F54B9}"/>
              </a:ext>
            </a:extLst>
          </p:cNvPr>
          <p:cNvSpPr txBox="1"/>
          <p:nvPr/>
        </p:nvSpPr>
        <p:spPr>
          <a:xfrm>
            <a:off x="15494000" y="6629400"/>
            <a:ext cx="144145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>
                <a:solidFill>
                  <a:srgbClr val="40464F"/>
                </a:solidFill>
                <a:latin typeface="Arial" panose="020B0604020202020204" pitchFamily="34" charset="0"/>
              </a:rPr>
              <a:t>Representative design inputs and operating-point conditions for the IntendedValidation2 case used throughout the poster.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AADB5D7-65CF-AFF1-53FB-392C74BA3AC5}"/>
              </a:ext>
            </a:extLst>
          </p:cNvPr>
          <p:cNvSpPr/>
          <p:nvPr/>
        </p:nvSpPr>
        <p:spPr>
          <a:xfrm>
            <a:off x="15494000" y="7112000"/>
            <a:ext cx="14414500" cy="762000"/>
          </a:xfrm>
          <a:prstGeom prst="rect">
            <a:avLst/>
          </a:prstGeom>
          <a:solidFill>
            <a:srgbClr val="044684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88900" rIns="50800" bIns="25400" rtlCol="0" anchor="ctr"/>
          <a:lstStyle/>
          <a:p>
            <a:r>
              <a:rPr lang="en-US" sz="2900" b="1">
                <a:solidFill>
                  <a:srgbClr val="FFFFFF"/>
                </a:solidFill>
                <a:latin typeface="Arial" panose="020B0604020202020204" pitchFamily="34" charset="0"/>
              </a:rPr>
              <a:t>Aerodynamic and Twist Results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808CB2AD-C48D-5EDE-287D-DC7D958B70FF}"/>
              </a:ext>
            </a:extLst>
          </p:cNvPr>
          <p:cNvPicPr>
            <a:picLocks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00" y="7950200"/>
            <a:ext cx="6604000" cy="4402667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F9C0B747-0B1D-4A40-5602-1EF09A76FA2B}"/>
              </a:ext>
            </a:extLst>
          </p:cNvPr>
          <p:cNvSpPr txBox="1"/>
          <p:nvPr/>
        </p:nvSpPr>
        <p:spPr>
          <a:xfrm>
            <a:off x="15494000" y="12420600"/>
            <a:ext cx="6604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>
                <a:solidFill>
                  <a:srgbClr val="40464F"/>
                </a:solidFill>
                <a:latin typeface="Arial" panose="020B0604020202020204" pitchFamily="34" charset="0"/>
              </a:rPr>
              <a:t>Lift polar.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DA8BD070-D77E-927E-A61C-C81F82C65195}"/>
              </a:ext>
            </a:extLst>
          </p:cNvPr>
          <p:cNvPicPr>
            <a:picLocks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04400" y="7950200"/>
            <a:ext cx="6604000" cy="4402667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6B43A24A-7C03-9177-4F7B-F9754F788A4D}"/>
              </a:ext>
            </a:extLst>
          </p:cNvPr>
          <p:cNvSpPr txBox="1"/>
          <p:nvPr/>
        </p:nvSpPr>
        <p:spPr>
          <a:xfrm>
            <a:off x="22504400" y="12420600"/>
            <a:ext cx="6604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>
                <a:solidFill>
                  <a:srgbClr val="40464F"/>
                </a:solidFill>
                <a:latin typeface="Arial" panose="020B0604020202020204" pitchFamily="34" charset="0"/>
              </a:rPr>
              <a:t>Drag polar.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F542D34-0FCA-B5CB-CE6A-2AB4C6F685B5}"/>
              </a:ext>
            </a:extLst>
          </p:cNvPr>
          <p:cNvSpPr txBox="1"/>
          <p:nvPr/>
        </p:nvSpPr>
        <p:spPr>
          <a:xfrm>
            <a:off x="15494000" y="12852400"/>
            <a:ext cx="14414500" cy="1107996"/>
          </a:xfrm>
          <a:prstGeom prst="rect">
            <a:avLst/>
          </a:prstGeom>
          <a:noFill/>
        </p:spPr>
        <p:txBody>
          <a:bodyPr vert="horz" wrap="square" lIns="25400" tIns="0" rIns="25400" bIns="0" rtlCol="0">
            <a:spAutoFit/>
          </a:bodyPr>
          <a:lstStyle/>
          <a:p>
            <a:pPr marL="342900" indent="-342900">
              <a:buFont typeface="+mj-lt"/>
              <a:buChar char="•"/>
            </a:pPr>
            <a:r>
              <a:rPr lang="en-US" sz="1800">
                <a:solidFill>
                  <a:srgbClr val="40464F"/>
                </a:solidFill>
                <a:latin typeface="Arial" panose="020B0604020202020204" pitchFamily="34" charset="0"/>
              </a:rPr>
              <a:t>Cruise operating point: C_L = 0.300, C_D = 0.0129, L over D = 23.21 at 0 degrees angle of attack.</a:t>
            </a:r>
          </a:p>
          <a:p>
            <a:pPr marL="342900" indent="-342900">
              <a:buFont typeface="+mj-lt"/>
              <a:buChar char="•"/>
            </a:pPr>
            <a:r>
              <a:rPr lang="en-US" sz="1800">
                <a:solidFill>
                  <a:srgbClr val="40464F"/>
                </a:solidFill>
                <a:latin typeface="Arial" panose="020B0604020202020204" pitchFamily="34" charset="0"/>
              </a:rPr>
              <a:t>Takeoff operating point: C_L = 0.730, C_D = 0.0456, L over D = 16.02 at 5.09 degrees angle of attack.</a:t>
            </a:r>
          </a:p>
          <a:p>
            <a:pPr marL="342900" indent="-342900">
              <a:buFont typeface="+mj-lt"/>
              <a:buChar char="•"/>
            </a:pPr>
            <a:r>
              <a:rPr lang="en-US" sz="1800">
                <a:solidFill>
                  <a:srgbClr val="40464F"/>
                </a:solidFill>
                <a:latin typeface="Arial" panose="020B0604020202020204" pitchFamily="34" charset="0"/>
              </a:rPr>
              <a:t>Optimized twist still trends from approximately plus 3.29 degrees inboard to minus 1.48 degrees outboard, but the figure is omitted here to prioritize space for validation and case-definition content.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39AD4CB-747A-0117-0FB3-866950A5689B}"/>
              </a:ext>
            </a:extLst>
          </p:cNvPr>
          <p:cNvSpPr/>
          <p:nvPr/>
        </p:nvSpPr>
        <p:spPr>
          <a:xfrm>
            <a:off x="15494000" y="15316200"/>
            <a:ext cx="14414500" cy="762000"/>
          </a:xfrm>
          <a:prstGeom prst="rect">
            <a:avLst/>
          </a:prstGeom>
          <a:solidFill>
            <a:srgbClr val="044684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88900" rIns="50800" bIns="25400" rtlCol="0" anchor="ctr"/>
          <a:lstStyle/>
          <a:p>
            <a:r>
              <a:rPr lang="en-US" sz="2900" b="1">
                <a:solidFill>
                  <a:srgbClr val="FFFFFF"/>
                </a:solidFill>
                <a:latin typeface="Arial" panose="020B0604020202020204" pitchFamily="34" charset="0"/>
              </a:rPr>
              <a:t>Integrated Structure and Mission Outputs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BC902AB-DBBC-B42E-7E57-B98911AE4110}"/>
              </a:ext>
            </a:extLst>
          </p:cNvPr>
          <p:cNvSpPr txBox="1"/>
          <p:nvPr/>
        </p:nvSpPr>
        <p:spPr>
          <a:xfrm>
            <a:off x="15494000" y="16179800"/>
            <a:ext cx="6604000" cy="307777"/>
          </a:xfrm>
          <a:prstGeom prst="rect">
            <a:avLst/>
          </a:prstGeom>
          <a:noFill/>
        </p:spPr>
        <p:txBody>
          <a:bodyPr vert="horz" wrap="square" lIns="25400" tIns="0" rIns="25400" bIns="0" rtlCol="0">
            <a:spAutoFit/>
          </a:bodyPr>
          <a:lstStyle/>
          <a:p>
            <a:r>
              <a:rPr lang="en-US" sz="2000" b="1">
                <a:solidFill>
                  <a:srgbClr val="044684"/>
                </a:solidFill>
                <a:latin typeface="Arial" panose="020B0604020202020204" pitchFamily="34" charset="0"/>
              </a:rPr>
              <a:t>Structure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D13088C-4854-2802-50F2-ED02D243FC6A}"/>
              </a:ext>
            </a:extLst>
          </p:cNvPr>
          <p:cNvSpPr txBox="1"/>
          <p:nvPr/>
        </p:nvSpPr>
        <p:spPr>
          <a:xfrm>
            <a:off x="15494000" y="16535400"/>
            <a:ext cx="6604000" cy="1346522"/>
          </a:xfrm>
          <a:prstGeom prst="rect">
            <a:avLst/>
          </a:prstGeom>
          <a:noFill/>
        </p:spPr>
        <p:txBody>
          <a:bodyPr vert="horz" wrap="square" lIns="25400" tIns="0" rIns="25400" bIns="0" rtlCol="0">
            <a:spAutoFit/>
          </a:bodyPr>
          <a:lstStyle/>
          <a:p>
            <a:r>
              <a:rPr lang="en-US" sz="1750">
                <a:solidFill>
                  <a:srgbClr val="40464F"/>
                </a:solidFill>
                <a:latin typeface="Consolas" panose="020B0609020204030204" pitchFamily="49" charset="0"/>
              </a:rPr>
              <a:t>Structural mass      2.363 kg</a:t>
            </a:r>
          </a:p>
          <a:p>
            <a:r>
              <a:rPr lang="en-US" sz="1750">
                <a:solidFill>
                  <a:srgbClr val="40464F"/>
                </a:solidFill>
                <a:latin typeface="Consolas" panose="020B0609020204030204" pitchFamily="49" charset="0"/>
              </a:rPr>
              <a:t>Tip deflection      2.27 mm</a:t>
            </a:r>
          </a:p>
          <a:p>
            <a:r>
              <a:rPr lang="en-US" sz="1750">
                <a:solidFill>
                  <a:srgbClr val="40464F"/>
                </a:solidFill>
                <a:latin typeface="Consolas" panose="020B0609020204030204" pitchFamily="49" charset="0"/>
              </a:rPr>
              <a:t>Tip twist           0.197 deg</a:t>
            </a:r>
          </a:p>
          <a:p>
            <a:r>
              <a:rPr lang="en-US" sz="1750">
                <a:solidFill>
                  <a:srgbClr val="40464F"/>
                </a:solidFill>
                <a:latin typeface="Consolas" panose="020B0609020204030204" pitchFamily="49" charset="0"/>
              </a:rPr>
              <a:t>Min rib crushing margin  0.97</a:t>
            </a:r>
          </a:p>
          <a:p>
            <a:r>
              <a:rPr lang="en-US" sz="1750">
                <a:solidFill>
                  <a:srgbClr val="40464F"/>
                </a:solidFill>
                <a:latin typeface="Consolas" panose="020B0609020204030204" pitchFamily="49" charset="0"/>
              </a:rPr>
              <a:t>Feasibility flag    False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1866AB5-194A-E30B-1D31-7B0C6571A99F}"/>
              </a:ext>
            </a:extLst>
          </p:cNvPr>
          <p:cNvSpPr txBox="1"/>
          <p:nvPr/>
        </p:nvSpPr>
        <p:spPr>
          <a:xfrm>
            <a:off x="15494000" y="18237200"/>
            <a:ext cx="6604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>
                <a:solidFill>
                  <a:srgbClr val="40464F"/>
                </a:solidFill>
                <a:latin typeface="Arial" panose="020B0604020202020204" pitchFamily="34" charset="0"/>
              </a:rPr>
              <a:t>The structure is globally light and stiff, but a local rib-crushing mode remains slightly below unity and governs feasibility.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8ACB375-C53F-EE62-7AAF-6679E08FFE9F}"/>
              </a:ext>
            </a:extLst>
          </p:cNvPr>
          <p:cNvSpPr txBox="1"/>
          <p:nvPr/>
        </p:nvSpPr>
        <p:spPr>
          <a:xfrm>
            <a:off x="22796500" y="16179800"/>
            <a:ext cx="6604000" cy="307777"/>
          </a:xfrm>
          <a:prstGeom prst="rect">
            <a:avLst/>
          </a:prstGeom>
          <a:noFill/>
        </p:spPr>
        <p:txBody>
          <a:bodyPr vert="horz" wrap="square" lIns="25400" tIns="0" rIns="25400" bIns="0" rtlCol="0">
            <a:spAutoFit/>
          </a:bodyPr>
          <a:lstStyle/>
          <a:p>
            <a:r>
              <a:rPr lang="en-US" sz="2000" b="1">
                <a:solidFill>
                  <a:srgbClr val="044684"/>
                </a:solidFill>
                <a:latin typeface="Arial" panose="020B0604020202020204" pitchFamily="34" charset="0"/>
              </a:rPr>
              <a:t>Mission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2D4140B-BA96-7590-8D3C-6BC4D545C572}"/>
              </a:ext>
            </a:extLst>
          </p:cNvPr>
          <p:cNvSpPr txBox="1"/>
          <p:nvPr/>
        </p:nvSpPr>
        <p:spPr>
          <a:xfrm>
            <a:off x="22796500" y="16535400"/>
            <a:ext cx="6604000" cy="1346522"/>
          </a:xfrm>
          <a:prstGeom prst="rect">
            <a:avLst/>
          </a:prstGeom>
          <a:noFill/>
        </p:spPr>
        <p:txBody>
          <a:bodyPr vert="horz" wrap="square" lIns="25400" tIns="0" rIns="25400" bIns="0" rtlCol="0">
            <a:spAutoFit/>
          </a:bodyPr>
          <a:lstStyle/>
          <a:p>
            <a:r>
              <a:rPr lang="en-US" sz="1750">
                <a:solidFill>
                  <a:srgbClr val="40464F"/>
                </a:solidFill>
                <a:latin typeface="Consolas" panose="020B0609020204030204" pitchFamily="49" charset="0"/>
              </a:rPr>
              <a:t>Mission completion   9 of 9 phases</a:t>
            </a:r>
          </a:p>
          <a:p>
            <a:r>
              <a:rPr lang="en-US" sz="1750">
                <a:solidFill>
                  <a:srgbClr val="40464F"/>
                </a:solidFill>
                <a:latin typeface="Consolas" panose="020B0609020204030204" pitchFamily="49" charset="0"/>
              </a:rPr>
              <a:t>Distance           1283 m</a:t>
            </a:r>
          </a:p>
          <a:p>
            <a:r>
              <a:rPr lang="en-US" sz="1750">
                <a:solidFill>
                  <a:srgbClr val="40464F"/>
                </a:solidFill>
                <a:latin typeface="Consolas" panose="020B0609020204030204" pitchFamily="49" charset="0"/>
              </a:rPr>
              <a:t>Energy used        6.64 Wh</a:t>
            </a:r>
          </a:p>
          <a:p>
            <a:r>
              <a:rPr lang="en-US" sz="1750">
                <a:solidFill>
                  <a:srgbClr val="40464F"/>
                </a:solidFill>
                <a:latin typeface="Consolas" panose="020B0609020204030204" pitchFamily="49" charset="0"/>
              </a:rPr>
              <a:t>Final SOC          78.1%</a:t>
            </a:r>
          </a:p>
          <a:p>
            <a:r>
              <a:rPr lang="en-US" sz="1750">
                <a:solidFill>
                  <a:srgbClr val="40464F"/>
                </a:solidFill>
                <a:latin typeface="Consolas" panose="020B0609020204030204" pitchFamily="49" charset="0"/>
              </a:rPr>
              <a:t>Max electrical power 2.30 kW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175A16E-FEF2-BDE9-7804-DA04D5E9AEBB}"/>
              </a:ext>
            </a:extLst>
          </p:cNvPr>
          <p:cNvSpPr txBox="1"/>
          <p:nvPr/>
        </p:nvSpPr>
        <p:spPr>
          <a:xfrm>
            <a:off x="22796500" y="18237200"/>
            <a:ext cx="6604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>
                <a:solidFill>
                  <a:srgbClr val="40464F"/>
                </a:solidFill>
                <a:latin typeface="Arial" panose="020B0604020202020204" pitchFamily="34" charset="0"/>
              </a:rPr>
              <a:t>The same aircraft definition can be evaluated from an energy-use and mission-feasibility perspective without leaving the project framework.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246AC950-1870-4C4D-66E5-DCF5A6A0147B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00" y="19177000"/>
            <a:ext cx="14414500" cy="6786827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17368E4E-980E-CD6A-DAF1-39E0960F60EF}"/>
              </a:ext>
            </a:extLst>
          </p:cNvPr>
          <p:cNvSpPr txBox="1"/>
          <p:nvPr/>
        </p:nvSpPr>
        <p:spPr>
          <a:xfrm>
            <a:off x="15494000" y="26009600"/>
            <a:ext cx="144145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>
                <a:solidFill>
                  <a:srgbClr val="40464F"/>
                </a:solidFill>
                <a:latin typeface="Arial" panose="020B0604020202020204" pitchFamily="34" charset="0"/>
              </a:rPr>
              <a:t>Structural-analysis interface used to inspect stress, margins, and feasibility for the same saved aircraft definition.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D75D37D-3C1B-2F8C-CC88-2FECAA735D77}"/>
              </a:ext>
            </a:extLst>
          </p:cNvPr>
          <p:cNvSpPr/>
          <p:nvPr/>
        </p:nvSpPr>
        <p:spPr>
          <a:xfrm>
            <a:off x="15494000" y="26492200"/>
            <a:ext cx="14414500" cy="762000"/>
          </a:xfrm>
          <a:prstGeom prst="rect">
            <a:avLst/>
          </a:prstGeom>
          <a:solidFill>
            <a:srgbClr val="044684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88900" rIns="50800" bIns="25400" rtlCol="0" anchor="ctr"/>
          <a:lstStyle/>
          <a:p>
            <a:r>
              <a:rPr lang="en-US" sz="2900" b="1">
                <a:solidFill>
                  <a:srgbClr val="FFFFFF"/>
                </a:solidFill>
                <a:latin typeface="Arial" panose="020B0604020202020204" pitchFamily="34" charset="0"/>
              </a:rPr>
              <a:t>Case Study Interpretation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FA3B949-4B12-8F16-1777-40B1C0665F1B}"/>
              </a:ext>
            </a:extLst>
          </p:cNvPr>
          <p:cNvSpPr txBox="1"/>
          <p:nvPr/>
        </p:nvSpPr>
        <p:spPr>
          <a:xfrm>
            <a:off x="15494000" y="27330400"/>
            <a:ext cx="14414500" cy="877163"/>
          </a:xfrm>
          <a:prstGeom prst="rect">
            <a:avLst/>
          </a:prstGeom>
          <a:noFill/>
        </p:spPr>
        <p:txBody>
          <a:bodyPr vert="horz" wrap="square" lIns="25400" tIns="0" rIns="25400" bIns="0" rtlCol="0">
            <a:spAutoFit/>
          </a:bodyPr>
          <a:lstStyle/>
          <a:p>
            <a:r>
              <a:rPr lang="en-US" sz="1900">
                <a:solidFill>
                  <a:srgbClr val="40464F"/>
                </a:solidFill>
                <a:latin typeface="Arial" panose="020B0604020202020204" pitchFamily="34" charset="0"/>
              </a:rPr>
              <a:t>The case study shows why the shared-state workflow matters. The same saved aircraft produces a coherent cruise solution, a usable twist distribution, a lightweight but not yet fully feasible structure, and a mission-level energy summary. The tool therefore surfaces coupled design consequences rather than isolated outputs.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834275E0-3868-D46F-BE6F-B17FF3672F05}"/>
              </a:ext>
            </a:extLst>
          </p:cNvPr>
          <p:cNvSpPr/>
          <p:nvPr/>
        </p:nvSpPr>
        <p:spPr>
          <a:xfrm>
            <a:off x="30454600" y="3429000"/>
            <a:ext cx="12903200" cy="762000"/>
          </a:xfrm>
          <a:prstGeom prst="rect">
            <a:avLst/>
          </a:prstGeom>
          <a:solidFill>
            <a:srgbClr val="044684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88900" rIns="50800" bIns="25400" rtlCol="0" anchor="ctr"/>
          <a:lstStyle/>
          <a:p>
            <a:r>
              <a:rPr lang="en-US" sz="2900" b="1">
                <a:solidFill>
                  <a:srgbClr val="FFFFFF"/>
                </a:solidFill>
                <a:latin typeface="Arial" panose="020B0604020202020204" pitchFamily="34" charset="0"/>
              </a:rPr>
              <a:t>Validation: BARAM CFD Cross-Check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C5C3E152-8BC1-D685-85B8-7EEE6D9C4C30}"/>
              </a:ext>
            </a:extLst>
          </p:cNvPr>
          <p:cNvPicPr>
            <a:picLocks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54600" y="4267200"/>
            <a:ext cx="6070600" cy="3421040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0544468E-7F47-30F4-E2A9-FECBF143B753}"/>
              </a:ext>
            </a:extLst>
          </p:cNvPr>
          <p:cNvSpPr txBox="1"/>
          <p:nvPr/>
        </p:nvSpPr>
        <p:spPr>
          <a:xfrm>
            <a:off x="30454600" y="7721600"/>
            <a:ext cx="60706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>
                <a:solidFill>
                  <a:srgbClr val="40464F"/>
                </a:solidFill>
                <a:latin typeface="Arial" panose="020B0604020202020204" pitchFamily="34" charset="0"/>
              </a:rPr>
              <a:t>Separated coefficient comparison for C_L and C_D.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9098A523-5DB6-BBD5-7D2F-485E70457A33}"/>
              </a:ext>
            </a:extLst>
          </p:cNvPr>
          <p:cNvPicPr>
            <a:picLocks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06200" y="4267200"/>
            <a:ext cx="6070600" cy="3642360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BDB8AF91-17BC-4BA2-22CF-5828D6AA9957}"/>
              </a:ext>
            </a:extLst>
          </p:cNvPr>
          <p:cNvSpPr txBox="1"/>
          <p:nvPr/>
        </p:nvSpPr>
        <p:spPr>
          <a:xfrm>
            <a:off x="36906200" y="7950200"/>
            <a:ext cx="60706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>
                <a:solidFill>
                  <a:srgbClr val="40464F"/>
                </a:solidFill>
                <a:latin typeface="Arial" panose="020B0604020202020204" pitchFamily="34" charset="0"/>
              </a:rPr>
              <a:t>Projected planform share versus split-patch drag share.</a:t>
            </a:r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A1896A6C-84F9-F36C-13F8-6E8D79BC2047}"/>
              </a:ext>
            </a:extLst>
          </p:cNvPr>
          <p:cNvPicPr>
            <a:picLocks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78600" y="8356600"/>
            <a:ext cx="9652000" cy="5439310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71409BAB-0CA5-DD6A-DB61-B9CC1E760043}"/>
              </a:ext>
            </a:extLst>
          </p:cNvPr>
          <p:cNvSpPr txBox="1"/>
          <p:nvPr/>
        </p:nvSpPr>
        <p:spPr>
          <a:xfrm>
            <a:off x="30454600" y="13893800"/>
            <a:ext cx="129032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>
                <a:solidFill>
                  <a:srgbClr val="40464F"/>
                </a:solidFill>
                <a:latin typeface="Arial" panose="020B0604020202020204" pitchFamily="34" charset="0"/>
              </a:rPr>
              <a:t>Separated L over D comparison so the coefficient bars are not visually compressed.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2C533CD-C2A1-FECC-B2A4-BF9EF6625DAB}"/>
              </a:ext>
            </a:extLst>
          </p:cNvPr>
          <p:cNvSpPr txBox="1"/>
          <p:nvPr/>
        </p:nvSpPr>
        <p:spPr>
          <a:xfrm>
            <a:off x="30454600" y="14325600"/>
            <a:ext cx="12903200" cy="1777410"/>
          </a:xfrm>
          <a:prstGeom prst="rect">
            <a:avLst/>
          </a:prstGeom>
          <a:noFill/>
        </p:spPr>
        <p:txBody>
          <a:bodyPr vert="horz" wrap="square" lIns="25400" tIns="0" rIns="25400" bIns="0" rtlCol="0">
            <a:spAutoFit/>
          </a:bodyPr>
          <a:lstStyle/>
          <a:p>
            <a:pPr marL="342900" indent="-342900">
              <a:buFont typeface="+mj-lt"/>
              <a:buChar char="•"/>
            </a:pPr>
            <a:r>
              <a:rPr lang="en-US" sz="1650">
                <a:solidFill>
                  <a:srgbClr val="40464F"/>
                </a:solidFill>
                <a:latin typeface="Arial" panose="020B0604020202020204" pitchFamily="34" charset="0"/>
              </a:rPr>
              <a:t>Independent CFD path: incompressible RANS, standard k-epsilon, symmetry half-model, convergence after 604 SIMPLE iterations.</a:t>
            </a:r>
          </a:p>
          <a:p>
            <a:pPr marL="342900" indent="-342900">
              <a:buFont typeface="+mj-lt"/>
              <a:buChar char="•"/>
            </a:pPr>
            <a:r>
              <a:rPr lang="en-US" sz="1650">
                <a:solidFill>
                  <a:srgbClr val="40464F"/>
                </a:solidFill>
                <a:latin typeface="Arial" panose="020B0604020202020204" pitchFamily="34" charset="0"/>
              </a:rPr>
              <a:t>After rescaling to the thesis reference quantities, lift is directionally close: C_L = 0.273 in BARAM versus 0.300 in the repository cruise analysis.</a:t>
            </a:r>
          </a:p>
          <a:p>
            <a:pPr marL="342900" indent="-342900">
              <a:buFont typeface="+mj-lt"/>
              <a:buChar char="•"/>
            </a:pPr>
            <a:r>
              <a:rPr lang="en-US" sz="1650">
                <a:solidFill>
                  <a:srgbClr val="40464F"/>
                </a:solidFill>
                <a:latin typeface="Arial" panose="020B0604020202020204" pitchFamily="34" charset="0"/>
              </a:rPr>
              <a:t>Drag differs materially: C_D = 0.0341 in BARAM versus 0.0129 in the repository cruise analysis, reducing L over D from 23.21 to 8.00.</a:t>
            </a:r>
          </a:p>
          <a:p>
            <a:pPr marL="342900" indent="-342900">
              <a:buFont typeface="+mj-lt"/>
              <a:buChar char="•"/>
            </a:pPr>
            <a:r>
              <a:rPr lang="en-US" sz="1650">
                <a:solidFill>
                  <a:srgbClr val="40464F"/>
                </a:solidFill>
                <a:latin typeface="Arial" panose="020B0604020202020204" pitchFamily="34" charset="0"/>
              </a:rPr>
              <a:t>The CFD drag is pressure dominated: 77.2 percent pressure drag and 22.8 percent viscous drag.</a:t>
            </a:r>
          </a:p>
          <a:p>
            <a:pPr marL="342900" indent="-342900">
              <a:buFont typeface="+mj-lt"/>
              <a:buChar char="•"/>
            </a:pPr>
            <a:r>
              <a:rPr lang="en-US" sz="1650">
                <a:solidFill>
                  <a:srgbClr val="40464F"/>
                </a:solidFill>
                <a:latin typeface="Arial" panose="020B0604020202020204" pitchFamily="34" charset="0"/>
              </a:rPr>
              <a:t>The centerbody plus junction occupy only 32.2 percent of projected planform area but account for 94.3 percent of the drag share, indicating a centerbody-dominated pressure-drag mechanism.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32C68B1-9361-BC64-3379-2340BDB18CC8}"/>
              </a:ext>
            </a:extLst>
          </p:cNvPr>
          <p:cNvSpPr/>
          <p:nvPr/>
        </p:nvSpPr>
        <p:spPr>
          <a:xfrm>
            <a:off x="30454600" y="17754600"/>
            <a:ext cx="12903200" cy="762000"/>
          </a:xfrm>
          <a:prstGeom prst="rect">
            <a:avLst/>
          </a:prstGeom>
          <a:solidFill>
            <a:srgbClr val="044684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88900" rIns="50800" bIns="25400" rtlCol="0" anchor="ctr"/>
          <a:lstStyle/>
          <a:p>
            <a:r>
              <a:rPr lang="en-US" sz="2900" b="1">
                <a:solidFill>
                  <a:srgbClr val="FFFFFF"/>
                </a:solidFill>
                <a:latin typeface="Arial" panose="020B0604020202020204" pitchFamily="34" charset="0"/>
              </a:rPr>
              <a:t>Mesh-Sensitivity Study</a:t>
            </a:r>
          </a:p>
        </p:txBody>
      </p:sp>
      <p:graphicFrame>
        <p:nvGraphicFramePr>
          <p:cNvPr id="62" name="Table 61">
            <a:extLst>
              <a:ext uri="{FF2B5EF4-FFF2-40B4-BE49-F238E27FC236}">
                <a16:creationId xmlns:a16="http://schemas.microsoft.com/office/drawing/2014/main" id="{B47D726E-3296-216E-054D-1EA146E6A9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2939423"/>
              </p:ext>
            </p:extLst>
          </p:nvPr>
        </p:nvGraphicFramePr>
        <p:xfrm>
          <a:off x="30454600" y="18592800"/>
          <a:ext cx="12903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1118119891"/>
                    </a:ext>
                  </a:extLst>
                </a:gridCol>
                <a:gridCol w="6667500">
                  <a:extLst>
                    <a:ext uri="{9D8B030D-6E8A-4147-A177-3AD203B41FA5}">
                      <a16:colId xmlns:a16="http://schemas.microsoft.com/office/drawing/2014/main" val="646144778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1257242267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1722515686"/>
                    </a:ext>
                  </a:extLst>
                </a:gridCol>
                <a:gridCol w="1841500">
                  <a:extLst>
                    <a:ext uri="{9D8B030D-6E8A-4147-A177-3AD203B41FA5}">
                      <a16:colId xmlns:a16="http://schemas.microsoft.com/office/drawing/2014/main" val="133966778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Condition</a:t>
                      </a:r>
                    </a:p>
                  </a:txBody>
                  <a:tcPr marL="50800" marR="50800" marT="25400" marB="12700">
                    <a:solidFill>
                      <a:srgbClr val="04468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Cells</a:t>
                      </a:r>
                    </a:p>
                  </a:txBody>
                  <a:tcPr marL="50800" marR="50800" marT="25400" marB="12700">
                    <a:solidFill>
                      <a:srgbClr val="04468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dC_D</a:t>
                      </a:r>
                    </a:p>
                  </a:txBody>
                  <a:tcPr marL="50800" marR="50800" marT="25400" marB="12700">
                    <a:solidFill>
                      <a:srgbClr val="04468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dC_L</a:t>
                      </a:r>
                    </a:p>
                  </a:txBody>
                  <a:tcPr marL="50800" marR="50800" marT="25400" marB="12700">
                    <a:solidFill>
                      <a:srgbClr val="04468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Read</a:t>
                      </a:r>
                    </a:p>
                  </a:txBody>
                  <a:tcPr marL="50800" marR="50800" marT="25400" marB="12700">
                    <a:solidFill>
                      <a:srgbClr val="0446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5313669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Cruise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0.423M -&gt; 2.159M -&gt; 2.773M -&gt; 8.505M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2.02%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0.57%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Mixed</a:t>
                      </a:r>
                    </a:p>
                  </a:txBody>
                  <a:tcPr marL="50800" marR="50800" marT="25400" marB="12700"/>
                </a:tc>
                <a:extLst>
                  <a:ext uri="{0D108BD9-81ED-4DB2-BD59-A6C34878D82A}">
                    <a16:rowId xmlns:a16="http://schemas.microsoft.com/office/drawing/2014/main" val="437510398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Takeoff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0.423M -&gt; 2.159M -&gt; 2.773M -&gt; 33.901M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3.13%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0.58%</a:t>
                      </a:r>
                    </a:p>
                  </a:txBody>
                  <a:tcPr marL="50800" marR="50800" marT="25400" marB="12700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b="0" i="0">
                          <a:solidFill>
                            <a:srgbClr val="40464F"/>
                          </a:solidFill>
                          <a:latin typeface="Arial" panose="020B0604020202020204" pitchFamily="34" charset="0"/>
                        </a:rPr>
                        <a:t>Sensitive</a:t>
                      </a:r>
                    </a:p>
                  </a:txBody>
                  <a:tcPr marL="50800" marR="50800" marT="25400" marB="12700"/>
                </a:tc>
                <a:extLst>
                  <a:ext uri="{0D108BD9-81ED-4DB2-BD59-A6C34878D82A}">
                    <a16:rowId xmlns:a16="http://schemas.microsoft.com/office/drawing/2014/main" val="4093364297"/>
                  </a:ext>
                </a:extLst>
              </a:tr>
            </a:tbl>
          </a:graphicData>
        </a:graphic>
      </p:graphicFrame>
      <p:sp>
        <p:nvSpPr>
          <p:cNvPr id="63" name="TextBox 62">
            <a:extLst>
              <a:ext uri="{FF2B5EF4-FFF2-40B4-BE49-F238E27FC236}">
                <a16:creationId xmlns:a16="http://schemas.microsoft.com/office/drawing/2014/main" id="{64704DAE-268D-FA5D-D965-9705A2869EF8}"/>
              </a:ext>
            </a:extLst>
          </p:cNvPr>
          <p:cNvSpPr txBox="1"/>
          <p:nvPr/>
        </p:nvSpPr>
        <p:spPr>
          <a:xfrm>
            <a:off x="41478200" y="19507200"/>
            <a:ext cx="1574800" cy="230832"/>
          </a:xfrm>
          <a:prstGeom prst="rect">
            <a:avLst/>
          </a:prstGeom>
          <a:noFill/>
        </p:spPr>
        <p:txBody>
          <a:bodyPr vert="horz" wrap="square" lIns="25400" tIns="0" rIns="25400" bIns="0" rtlCol="0">
            <a:spAutoFit/>
          </a:bodyPr>
          <a:lstStyle/>
          <a:p>
            <a:r>
              <a:rPr lang="en-US" sz="1500">
                <a:solidFill>
                  <a:srgbClr val="B23A48"/>
                </a:solidFill>
                <a:latin typeface="Arial" panose="020B0604020202020204" pitchFamily="34" charset="0"/>
              </a:rPr>
              <a:t>Sensitive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A640DC5-C254-AF92-C3AD-E34E66FDB0F4}"/>
              </a:ext>
            </a:extLst>
          </p:cNvPr>
          <p:cNvSpPr txBox="1"/>
          <p:nvPr/>
        </p:nvSpPr>
        <p:spPr>
          <a:xfrm>
            <a:off x="30454600" y="21107400"/>
            <a:ext cx="12903200" cy="1384995"/>
          </a:xfrm>
          <a:prstGeom prst="rect">
            <a:avLst/>
          </a:prstGeom>
          <a:noFill/>
        </p:spPr>
        <p:txBody>
          <a:bodyPr vert="horz" wrap="square" lIns="25400" tIns="0" rIns="25400" bIns="0" rtlCol="0">
            <a:spAutoFit/>
          </a:bodyPr>
          <a:lstStyle/>
          <a:p>
            <a:pPr marL="342900" indent="-342900">
              <a:buFont typeface="+mj-lt"/>
              <a:buChar char="•"/>
            </a:pPr>
            <a:r>
              <a:rPr lang="en-US" sz="1500">
                <a:solidFill>
                  <a:srgbClr val="40464F"/>
                </a:solidFill>
                <a:latin typeface="Arial" panose="020B0604020202020204" pitchFamily="34" charset="0"/>
              </a:rPr>
              <a:t>Former fine meshes are relabeled Medium 2 because they sat very close to the medium meshes in total cell count; former extra-fine meshes are reported as Fine.</a:t>
            </a:r>
          </a:p>
          <a:p>
            <a:pPr marL="342900" indent="-342900">
              <a:buFont typeface="+mj-lt"/>
              <a:buChar char="•"/>
            </a:pPr>
            <a:r>
              <a:rPr lang="en-US" sz="1500">
                <a:solidFill>
                  <a:srgbClr val="40464F"/>
                </a:solidFill>
                <a:latin typeface="Arial" panose="020B0604020202020204" pitchFamily="34" charset="0"/>
              </a:rPr>
              <a:t>The reported dC_D and dC_L values are the final Medium 2 to Fine changes, so this section is presented as mesh sensitivity rather than formal grid independence.</a:t>
            </a:r>
          </a:p>
          <a:p>
            <a:pPr marL="342900" indent="-342900">
              <a:buFont typeface="+mj-lt"/>
              <a:buChar char="•"/>
            </a:pPr>
            <a:r>
              <a:rPr lang="en-US" sz="1500">
                <a:solidFill>
                  <a:srgbClr val="40464F"/>
                </a:solidFill>
                <a:latin typeface="Arial" panose="020B0604020202020204" pitchFamily="34" charset="0"/>
              </a:rPr>
              <a:t>Retained wall-layer cells remained zero, so the study captures coefficient sensitivity of the present setup rather than full boundary-layer independence.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0D7B80FF-80FF-F16C-7637-927B3481CF05}"/>
              </a:ext>
            </a:extLst>
          </p:cNvPr>
          <p:cNvSpPr/>
          <p:nvPr/>
        </p:nvSpPr>
        <p:spPr>
          <a:xfrm>
            <a:off x="30454600" y="23393400"/>
            <a:ext cx="12903200" cy="762000"/>
          </a:xfrm>
          <a:prstGeom prst="rect">
            <a:avLst/>
          </a:prstGeom>
          <a:solidFill>
            <a:srgbClr val="044684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88900" rIns="50800" bIns="25400" rtlCol="0" anchor="ctr"/>
          <a:lstStyle/>
          <a:p>
            <a:r>
              <a:rPr lang="en-US" sz="2900" b="1">
                <a:solidFill>
                  <a:srgbClr val="FFFFFF"/>
                </a:solidFill>
                <a:latin typeface="Arial" panose="020B0604020202020204" pitchFamily="34" charset="0"/>
              </a:rPr>
              <a:t>Claim Boundary and Next Steps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D86448F-AF83-B1A6-BC4A-51367E2F81BB}"/>
              </a:ext>
            </a:extLst>
          </p:cNvPr>
          <p:cNvSpPr txBox="1"/>
          <p:nvPr/>
        </p:nvSpPr>
        <p:spPr>
          <a:xfrm>
            <a:off x="30454600" y="24231600"/>
            <a:ext cx="12903200" cy="1477328"/>
          </a:xfrm>
          <a:prstGeom prst="rect">
            <a:avLst/>
          </a:prstGeom>
          <a:noFill/>
        </p:spPr>
        <p:txBody>
          <a:bodyPr vert="horz" wrap="square" lIns="25400" tIns="0" rIns="25400" bIns="0" rtlCol="0">
            <a:spAutoFit/>
          </a:bodyPr>
          <a:lstStyle/>
          <a:p>
            <a:pPr marL="342900" indent="-342900">
              <a:buFont typeface="+mj-lt"/>
              <a:buChar char="•"/>
            </a:pPr>
            <a:r>
              <a:rPr lang="en-US" sz="1600">
                <a:solidFill>
                  <a:srgbClr val="40464F"/>
                </a:solidFill>
                <a:latin typeface="Arial" panose="020B0604020202020204" pitchFamily="34" charset="0"/>
              </a:rPr>
              <a:t>The main result is an integrated, traceable preliminary-design environment for flying-wing aircraft rather than a stand-alone new solver.</a:t>
            </a:r>
          </a:p>
          <a:p>
            <a:pPr marL="342900" indent="-342900">
              <a:buFont typeface="+mj-lt"/>
              <a:buChar char="•"/>
            </a:pPr>
            <a:r>
              <a:rPr lang="en-US" sz="1600">
                <a:solidFill>
                  <a:srgbClr val="40464F"/>
                </a:solidFill>
                <a:latin typeface="Arial" panose="020B0604020202020204" pitchFamily="34" charset="0"/>
              </a:rPr>
              <a:t>The validation evidence supports a narrow claim: the present low-order workflow preserves lift and trim trends better than absolute drag for thick blended-centerbody configurations.</a:t>
            </a:r>
          </a:p>
          <a:p>
            <a:pPr marL="342900" indent="-342900">
              <a:buFont typeface="+mj-lt"/>
              <a:buChar char="•"/>
            </a:pPr>
            <a:r>
              <a:rPr lang="en-US" sz="1600">
                <a:solidFill>
                  <a:srgbClr val="40464F"/>
                </a:solidFill>
                <a:latin typeface="Arial" panose="020B0604020202020204" pitchFamily="34" charset="0"/>
              </a:rPr>
              <a:t>The dominant missing term is centerbody-dominated pressure and interference drag rather than outer-wing skin friction alone.</a:t>
            </a:r>
          </a:p>
          <a:p>
            <a:pPr marL="342900" indent="-342900">
              <a:buFont typeface="+mj-lt"/>
              <a:buChar char="•"/>
            </a:pPr>
            <a:r>
              <a:rPr lang="en-US" sz="1600">
                <a:solidFill>
                  <a:srgbClr val="40464F"/>
                </a:solidFill>
                <a:latin typeface="Arial" panose="020B0604020202020204" pitchFamily="34" charset="0"/>
              </a:rPr>
              <a:t>Next work should focus on stronger centerbody drag modeling, retained wall-layer verification, and comparison against additional published or experimental cases.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13402FC0-08E2-4FC7-F255-83B62DE9CCB5}"/>
              </a:ext>
            </a:extLst>
          </p:cNvPr>
          <p:cNvSpPr/>
          <p:nvPr/>
        </p:nvSpPr>
        <p:spPr>
          <a:xfrm>
            <a:off x="30454600" y="26797000"/>
            <a:ext cx="12903200" cy="762000"/>
          </a:xfrm>
          <a:prstGeom prst="rect">
            <a:avLst/>
          </a:prstGeom>
          <a:solidFill>
            <a:srgbClr val="044684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88900" rIns="50800" bIns="25400" rtlCol="0" anchor="ctr"/>
          <a:lstStyle/>
          <a:p>
            <a:r>
              <a:rPr lang="en-US" sz="2900" b="1">
                <a:solidFill>
                  <a:srgbClr val="FFFFFF"/>
                </a:solidFill>
                <a:latin typeface="Arial" panose="020B0604020202020204" pitchFamily="34" charset="0"/>
              </a:rPr>
              <a:t>Selected References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D0FDBDD-B543-9E7B-00CC-3CCABED060F8}"/>
              </a:ext>
            </a:extLst>
          </p:cNvPr>
          <p:cNvSpPr txBox="1"/>
          <p:nvPr/>
        </p:nvSpPr>
        <p:spPr>
          <a:xfrm>
            <a:off x="30454600" y="27635200"/>
            <a:ext cx="12903200" cy="1200329"/>
          </a:xfrm>
          <a:prstGeom prst="rect">
            <a:avLst/>
          </a:prstGeom>
          <a:noFill/>
        </p:spPr>
        <p:txBody>
          <a:bodyPr vert="horz" wrap="square" lIns="25400" tIns="0" rIns="25400" bIns="0" rtlCol="0">
            <a:spAutoFit/>
          </a:bodyPr>
          <a:lstStyle/>
          <a:p>
            <a:pPr marL="342900" indent="-342900">
              <a:buFont typeface="+mj-lt"/>
              <a:buChar char="•"/>
            </a:pPr>
            <a:r>
              <a:rPr lang="en-US" sz="1300">
                <a:solidFill>
                  <a:srgbClr val="40464F"/>
                </a:solidFill>
                <a:latin typeface="Arial" panose="020B0604020202020204" pitchFamily="34" charset="0"/>
              </a:rPr>
              <a:t>Sharpe, P. D. (2021). AeroSandbox: A Differentiable Framework for Aircraft Design Optimization. Massachusetts Institute of Technology.</a:t>
            </a:r>
          </a:p>
          <a:p>
            <a:pPr marL="342900" indent="-342900">
              <a:buFont typeface="+mj-lt"/>
              <a:buChar char="•"/>
            </a:pPr>
            <a:r>
              <a:rPr lang="en-US" sz="1300">
                <a:solidFill>
                  <a:srgbClr val="40464F"/>
                </a:solidFill>
                <a:latin typeface="Arial" panose="020B0604020202020204" pitchFamily="34" charset="0"/>
              </a:rPr>
              <a:t>Sharpe, P. D. (2024). Accelerating Practical Engineering Design Optimization with Computational Graph Transformations. Massachusetts Institute of Technology.</a:t>
            </a:r>
          </a:p>
          <a:p>
            <a:pPr marL="342900" indent="-342900">
              <a:buFont typeface="+mj-lt"/>
              <a:buChar char="•"/>
            </a:pPr>
            <a:r>
              <a:rPr lang="en-US" sz="1300">
                <a:solidFill>
                  <a:srgbClr val="40464F"/>
                </a:solidFill>
                <a:latin typeface="Arial" panose="020B0604020202020204" pitchFamily="34" charset="0"/>
              </a:rPr>
              <a:t>Sharpe, P. D. (2025). NeuralFoil: A physics-informed machine learning model for airfoil aerodynamics. arXiv:2503.16323.</a:t>
            </a:r>
          </a:p>
          <a:p>
            <a:pPr marL="342900" indent="-342900">
              <a:buFont typeface="+mj-lt"/>
              <a:buChar char="•"/>
            </a:pPr>
            <a:r>
              <a:rPr lang="en-US" sz="1300">
                <a:solidFill>
                  <a:srgbClr val="40464F"/>
                </a:solidFill>
                <a:latin typeface="Arial" panose="020B0604020202020204" pitchFamily="34" charset="0"/>
              </a:rPr>
              <a:t>Bowers, A. H., et al. (2023). Wake-Structure of the Prandtl-D. AIAA Applied Aerodynamics Conference.</a:t>
            </a:r>
          </a:p>
          <a:p>
            <a:pPr marL="342900" indent="-342900">
              <a:buFont typeface="+mj-lt"/>
              <a:buChar char="•"/>
            </a:pPr>
            <a:r>
              <a:rPr lang="en-US" sz="1300">
                <a:solidFill>
                  <a:srgbClr val="40464F"/>
                </a:solidFill>
                <a:latin typeface="Arial" panose="020B0604020202020204" pitchFamily="34" charset="0"/>
              </a:rPr>
              <a:t>Yu, A., et al. (2022). Comparing Potential Flow Solvers for Aerodynamic Characteristics Estimation of the T-Flex UAV. ICAS 2022.</a:t>
            </a:r>
          </a:p>
          <a:p>
            <a:pPr marL="342900" indent="-342900">
              <a:buFont typeface="+mj-lt"/>
              <a:buChar char="•"/>
            </a:pPr>
            <a:r>
              <a:rPr lang="en-US" sz="1300">
                <a:solidFill>
                  <a:srgbClr val="40464F"/>
                </a:solidFill>
                <a:latin typeface="Arial" panose="020B0604020202020204" pitchFamily="34" charset="0"/>
              </a:rPr>
              <a:t>Rosas-Cordova, A., et al. (2024). Validation of VSPAERO for Basic Wing Simulation. RIMNI.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ES_Template_36x48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CAES_Poster_Horizontal_36x48</Template>
  <TotalTime>0</TotalTime>
  <Words>1259</Words>
  <Application>Microsoft Office PowerPoint</Application>
  <PresentationFormat>Custom</PresentationFormat>
  <Paragraphs>135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Consolas</vt:lpstr>
      <vt:lpstr>SAES_Template_36x48</vt:lpstr>
      <vt:lpstr>PowerPoint Presentation</vt:lpstr>
    </vt:vector>
  </TitlesOfParts>
  <Company>NC A&amp;T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Kevin Lupo</dc:creator>
  <cp:lastModifiedBy>Malik Henry</cp:lastModifiedBy>
  <cp:revision>2</cp:revision>
  <cp:lastPrinted>2013-03-28T14:59:02Z</cp:lastPrinted>
  <dcterms:created xsi:type="dcterms:W3CDTF">2018-06-19T15:11:49Z</dcterms:created>
  <dcterms:modified xsi:type="dcterms:W3CDTF">2026-04-09T23:38:52Z</dcterms:modified>
</cp:coreProperties>
</file>